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3" r:id="rId1"/>
  </p:sldMasterIdLst>
  <p:sldIdLst>
    <p:sldId id="263" r:id="rId2"/>
    <p:sldId id="259" r:id="rId3"/>
    <p:sldId id="260" r:id="rId4"/>
    <p:sldId id="279" r:id="rId5"/>
    <p:sldId id="281" r:id="rId6"/>
    <p:sldId id="280" r:id="rId7"/>
    <p:sldId id="285" r:id="rId8"/>
    <p:sldId id="267" r:id="rId9"/>
    <p:sldId id="266" r:id="rId10"/>
    <p:sldId id="265" r:id="rId11"/>
    <p:sldId id="276" r:id="rId12"/>
    <p:sldId id="270" r:id="rId13"/>
    <p:sldId id="273" r:id="rId14"/>
    <p:sldId id="277" r:id="rId15"/>
    <p:sldId id="275" r:id="rId16"/>
    <p:sldId id="274" r:id="rId17"/>
    <p:sldId id="272" r:id="rId18"/>
    <p:sldId id="269" r:id="rId19"/>
    <p:sldId id="271" r:id="rId20"/>
    <p:sldId id="264" r:id="rId21"/>
    <p:sldId id="261" r:id="rId22"/>
    <p:sldId id="284" r:id="rId23"/>
    <p:sldId id="283" r:id="rId24"/>
    <p:sldId id="282" r:id="rId25"/>
    <p:sldId id="268" r:id="rId26"/>
    <p:sldId id="278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0" d="100"/>
          <a:sy n="50" d="100"/>
        </p:scale>
        <p:origin x="173" y="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6 Imagen" descr="Dibujo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b="1" cap="none" spc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s-ES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948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cap="none" spc="0">
                <a:ln w="18415" cmpd="sng">
                  <a:solidFill>
                    <a:srgbClr val="0066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n>
                  <a:noFill/>
                </a:ln>
                <a:solidFill>
                  <a:srgbClr val="0000CC"/>
                </a:solidFill>
              </a:defRPr>
            </a:lvl1pPr>
            <a:lvl2pPr>
              <a:defRPr>
                <a:ln>
                  <a:noFill/>
                </a:ln>
                <a:solidFill>
                  <a:srgbClr val="0000CC"/>
                </a:solidFill>
              </a:defRPr>
            </a:lvl2pPr>
            <a:lvl3pPr>
              <a:defRPr>
                <a:ln>
                  <a:noFill/>
                </a:ln>
                <a:solidFill>
                  <a:srgbClr val="0000CC"/>
                </a:solidFill>
              </a:defRPr>
            </a:lvl3pPr>
            <a:lvl4pPr>
              <a:defRPr>
                <a:ln>
                  <a:noFill/>
                </a:ln>
                <a:solidFill>
                  <a:srgbClr val="0000CC"/>
                </a:solidFill>
              </a:defRPr>
            </a:lvl4pPr>
            <a:lvl5pPr>
              <a:defRPr>
                <a:ln>
                  <a:noFill/>
                </a:ln>
                <a:solidFill>
                  <a:srgbClr val="0000CC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 dirty="0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1263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4001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62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1805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7590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9353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557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2909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9571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C7E19-DCA5-49F3-B8D2-FDEAC3543D3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0252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C7E19-DCA5-49F3-B8D2-FDEAC3543D3D}" type="datetimeFigureOut">
              <a:rPr lang="ru-RU" smtClean="0"/>
              <a:t>12.09.2026</a:t>
            </a:fld>
            <a:endParaRPr lang="ru-RU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E45BB-B845-438C-A09B-2136531939F0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6 Imagen" descr="Dibujo.bmp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0" y="0"/>
            <a:ext cx="12192000" cy="7010400"/>
          </a:xfrm>
          <a:prstGeom prst="rect">
            <a:avLst/>
          </a:prstGeom>
          <a:gradFill flip="none" rotWithShape="1">
            <a:gsLst>
              <a:gs pos="100000">
                <a:srgbClr val="03D4A8">
                  <a:alpha val="18000"/>
                </a:srgbClr>
              </a:gs>
              <a:gs pos="25000">
                <a:srgbClr val="21D6E0">
                  <a:alpha val="23000"/>
                </a:srgbClr>
              </a:gs>
              <a:gs pos="75000">
                <a:srgbClr val="0087E6">
                  <a:alpha val="25000"/>
                </a:srgbClr>
              </a:gs>
              <a:gs pos="100000">
                <a:srgbClr val="005CBF">
                  <a:alpha val="25999"/>
                </a:srgbClr>
              </a:gs>
            </a:gsLst>
            <a:lin ang="270000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s-ES" sz="1800"/>
          </a:p>
        </p:txBody>
      </p:sp>
    </p:spTree>
    <p:extLst>
      <p:ext uri="{BB962C8B-B14F-4D97-AF65-F5344CB8AC3E}">
        <p14:creationId xmlns:p14="http://schemas.microsoft.com/office/powerpoint/2010/main" val="2673191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BE1B47-9E47-9CBE-D322-40B93EDDF1F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</a:rPr>
              <a:t>Основные понятия и определения</a:t>
            </a:r>
            <a:endParaRPr lang="ru-RU" sz="54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15AFE19-3D70-2A10-9A1F-0C3D5FE56E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тема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702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67F778-4323-4A64-0B60-59668E584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AE792C-54FF-C25B-DEAA-C7DF8621C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6600" dirty="0"/>
              <a:t>ОЗНАКОМИТЬСЯ С ТЕРМИНОЛОГИЕЙ</a:t>
            </a:r>
          </a:p>
        </p:txBody>
      </p:sp>
    </p:spTree>
    <p:extLst>
      <p:ext uri="{BB962C8B-B14F-4D97-AF65-F5344CB8AC3E}">
        <p14:creationId xmlns:p14="http://schemas.microsoft.com/office/powerpoint/2010/main" val="3480104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F88D02-382A-2EB9-CD8F-342D05C84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Задачи</a:t>
            </a: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3FF237-86B4-6E06-2E56-2FFF6472D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Основные понятия в последние годы не претерпели сильных изменений, формулировки стали более точными и лаконичными, исключающими неоднозначность понятий. Наиболее полные определения представлены в Федеральных законах Российской Федерации и стандартах. </a:t>
            </a:r>
          </a:p>
          <a:p>
            <a:r>
              <a:rPr lang="ru-RU" dirty="0"/>
              <a:t>Запомнить определения в соответствии с принятыми законами и стандартами.</a:t>
            </a:r>
          </a:p>
        </p:txBody>
      </p:sp>
    </p:spTree>
    <p:extLst>
      <p:ext uri="{BB962C8B-B14F-4D97-AF65-F5344CB8AC3E}">
        <p14:creationId xmlns:p14="http://schemas.microsoft.com/office/powerpoint/2010/main" val="1664679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3DC56B-6858-71B9-4D2D-600B4DAEB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4A9318-BF7F-FEEB-8916-DCF0C1797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6000" dirty="0"/>
              <a:t>– «сведения (сообщения, данные) независимо от формы их представления». </a:t>
            </a:r>
          </a:p>
        </p:txBody>
      </p:sp>
    </p:spTree>
    <p:extLst>
      <p:ext uri="{BB962C8B-B14F-4D97-AF65-F5344CB8AC3E}">
        <p14:creationId xmlns:p14="http://schemas.microsoft.com/office/powerpoint/2010/main" val="240387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E7B69E-EF68-613D-96FB-5F26499E7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Информационные технологии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E61803-1A23-9F64-21A6-DFD0D91BF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4400" dirty="0"/>
              <a:t>– «процессы, методы поиска, сбора, хранения, обработки, предоставления, распространения информации и способы осуществления таких процессов и методов». </a:t>
            </a:r>
          </a:p>
          <a:p>
            <a:r>
              <a:rPr lang="ru-RU" dirty="0"/>
              <a:t>Информационные технологии (ИТ) — ресурсы, необходимые для сбора, обработки, хранения и распространения информации (ISO/IEC 38500:2015)</a:t>
            </a:r>
          </a:p>
          <a:p>
            <a:pPr marL="0" indent="0">
              <a:buNone/>
            </a:pPr>
            <a:endParaRPr lang="ru-RU" sz="4400" dirty="0"/>
          </a:p>
        </p:txBody>
      </p:sp>
    </p:spTree>
    <p:extLst>
      <p:ext uri="{BB962C8B-B14F-4D97-AF65-F5344CB8AC3E}">
        <p14:creationId xmlns:p14="http://schemas.microsoft.com/office/powerpoint/2010/main" val="1569563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EDECFD-EA77-CA8F-EB57-DA386DB21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Информационная система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51DF7C-E228-8341-7981-B13DA18D6A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4400" dirty="0"/>
              <a:t>– «совокупность содержащейся в базах данных информации и обеспечивающих ее обработку информационных технологий и технических средств». Проектирование информационных систем – это упорядоченная совокупность методологий и средств создания или модернизации информационных систем.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584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71A483-602F-47CB-91EF-2D76E5B42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Информационная система в соответствии с ISO/IEC 2382:2015.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565E37-5595-1B15-E310-40465CA89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4400" dirty="0"/>
              <a:t>система, предназначенная для хранения, поиска и обработки информации, и соответствующие организационные ресурсы (человеческие, технические, финансовые и т. д.), которые обеспечивают и распространяют информацию (ISO/IEC 2382:2015).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7332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E71A45-20B3-DCA9-CD9A-C4FEEDE41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информационными системами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CA5938-B3C9-9112-B133-669B45ADE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4800" dirty="0"/>
              <a:t>– «применение методов управления процессами планирования, анализа, дизайна, создания, внедрения и эксплуатации информационной системы организации для достижения ее целей»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51006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3D8B8E-82E2-C00B-BC27-02F0DD317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Жизненный цикл информационных системы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BB4644-EE2A-686D-B0AF-E621B8133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5400" dirty="0"/>
              <a:t>– «развитие рассматриваемой системы во времени, начиная от замысла и кончая списанием».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7368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E5AE39-8676-7218-18B5-3E5947E32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жизненного цикла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339E48-8ADA-3476-CB50-0B58F442C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sz="5400" dirty="0"/>
              <a:t>– «структурная основа процессов и действий, относящиеся к жизненному циклу, которая служит в качестве общей ссылки для установления связей и взаимопонимания сторон».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05697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AECC70-469F-EBA0-C86D-94CD72470B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информационных систем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6379843-E1A0-644C-3781-6B14544737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6000" dirty="0"/>
              <a:t>– это концепция, определяющая модель, структуру, выполняемые функции и взаимосвязь компонентов информационной системы.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3915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469C76-311C-A4B3-971D-CA5228E25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Бизнес-процесс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070C6A-267B-0B5C-B27F-D7CB4234C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4800" dirty="0"/>
              <a:t>– это цепочка взаимосвязанных действий, направленных на создание товарной продукции или услуги. Регламент бизнес-процесса – это четко определенный порядок выполнения бизнес-процесса, определяющий состав и действия участников.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2174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F4138F-8163-8541-F1DB-0212F4397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данных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738760-58AE-64A0-DB0B-5248B47FC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6000" dirty="0"/>
              <a:t>– это система организации данных и управления ими.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0502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B34F38-1F54-8D38-D677-D880FE31A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Методология проектирования информационных систем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B2E198-8F8A-2D86-6DFF-925650902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5400" dirty="0"/>
              <a:t>– это совокупность принципов проектирования (моделирования), выраженная в определенной концепции.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438821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A8A18D-9570-5615-45B2-AA4D57E2B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Средства моделирования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F8A390-B412-46CA-97C6-E7DC8135EC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6000" dirty="0"/>
              <a:t>– это программы описания и моделирования систем.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64317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267AE6-0CEA-1200-BDDA-CC402C2EE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Типовое проектное решение (ТПР)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BE186F-8058-0A6D-6EC3-95FBB769A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6600" dirty="0"/>
              <a:t>– это многократно используемое проектное решение.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069637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0F45E9-F0EA-7BAD-3E5F-DCD81793C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Нотации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2706F9-F52D-0FA2-ED4E-516D5D282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6000" dirty="0"/>
              <a:t>– это определенные способы представления элементов информационной системы.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01621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7EC970-2CE9-597C-E1F3-75ACBA7B0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Реинжиниринг бизнес-процессов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6914CAA-2D0A-B233-7FFD-C8BF9B1FBF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6000" dirty="0"/>
              <a:t>– это фундаментальная реорганизация бизнес-процессов с целью повышения их эффективности.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17253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7781F8-994A-1394-4D66-70CD775A34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Системный подход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4120D4-A1A4-FA4A-4152-2F259A3A0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6000" dirty="0"/>
              <a:t>– процесс рассмотрения любой системы в качестве совокупности взаимосвязанных элементов.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85207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D10B3A-3C7C-BB2C-BA7E-16E22245E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Процессный подход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97831C-3847-1A8F-6948-445173E79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5400" dirty="0"/>
              <a:t>– представление любой системы в качестве совокупности процессов. Функциональный подход – предусматривает четкое закрепление за каждой структурной единицей набора функций.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415144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5880A-9FDE-716D-12EA-0E602B03B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Техническое задание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CB8EAE-4BF1-065D-F9BB-E7262CC74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5400" dirty="0"/>
              <a:t>– документ, используемый заказчиком в качестве средства для описания и определения задач, выполняемых при реализации договора.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390758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6E1374-5263-9D3E-BF25-02A697E5A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40FE2D-EEB2-BAFB-DE98-785254D1E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810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ED7ADE-8885-FBEA-86D6-2CD9CD400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33130A-96DF-DD63-E54F-BF7B47274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23346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301CD7-E8BC-8215-8EB0-7EE464AE1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0BA86A-A2CF-9B5B-3E3C-F5052BCA77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8765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C41D1F-9E73-BF7A-BEEB-66DF99B23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108730B-5EB0-F002-75D4-75893E06A8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2928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FFFEAE-3CEC-1DF2-66C5-554FDB3ED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A2219DA-6C84-27E0-AA4D-78F2C65294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4121071"/>
      </p:ext>
    </p:extLst>
  </p:cSld>
  <p:clrMapOvr>
    <a:masterClrMapping/>
  </p:clrMapOvr>
</p:sld>
</file>

<file path=ppt/theme/theme1.xml><?xml version="1.0" encoding="utf-8"?>
<a:theme xmlns:a="http://schemas.openxmlformats.org/drawingml/2006/main" name="La ment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462</Words>
  <Application>Microsoft Office PowerPoint</Application>
  <PresentationFormat>Широкоэкранный</PresentationFormat>
  <Paragraphs>44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29" baseType="lpstr">
      <vt:lpstr>Arial</vt:lpstr>
      <vt:lpstr>Calibri</vt:lpstr>
      <vt:lpstr>La mente</vt:lpstr>
      <vt:lpstr>Основные понятия и определения</vt:lpstr>
      <vt:lpstr>Цель </vt:lpstr>
      <vt:lpstr>Задачи </vt:lpstr>
      <vt:lpstr>Информация</vt:lpstr>
      <vt:lpstr>Информационные технологии </vt:lpstr>
      <vt:lpstr>Информационная система </vt:lpstr>
      <vt:lpstr>Информационная система в соответствии с ISO/IEC 2382:2015.</vt:lpstr>
      <vt:lpstr>Управление информационными системами </vt:lpstr>
      <vt:lpstr>Жизненный цикл информационных системы </vt:lpstr>
      <vt:lpstr>Модель жизненного цикла </vt:lpstr>
      <vt:lpstr>Архитектура информационных систем </vt:lpstr>
      <vt:lpstr>Бизнес-процесс</vt:lpstr>
      <vt:lpstr>Модель данных </vt:lpstr>
      <vt:lpstr>Методология проектирования информационных систем </vt:lpstr>
      <vt:lpstr>Средства моделирования </vt:lpstr>
      <vt:lpstr>Типовое проектное решение (ТПР) </vt:lpstr>
      <vt:lpstr>Нотации</vt:lpstr>
      <vt:lpstr>Реинжиниринг бизнес-процессов </vt:lpstr>
      <vt:lpstr>Системный подход </vt:lpstr>
      <vt:lpstr>Процессный подход </vt:lpstr>
      <vt:lpstr>Техническое задание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Елена Журавлёва</dc:creator>
  <cp:lastModifiedBy>Елена Журавлёва</cp:lastModifiedBy>
  <cp:revision>9</cp:revision>
  <dcterms:created xsi:type="dcterms:W3CDTF">2026-09-03T16:56:30Z</dcterms:created>
  <dcterms:modified xsi:type="dcterms:W3CDTF">2026-09-12T09:34:33Z</dcterms:modified>
</cp:coreProperties>
</file>
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8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Group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defPPr/>
            <a:lvl1pPr lvl="0" algn="ctr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97" name="Shape 97"/>
          <p:cNvSpPr txBox="1"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1"/>
          </a:xfrm>
          <a:prstGeom prst="rect">
            <a:avLst/>
          </a:prstGeom>
        </p:spPr>
        <p:txBody>
          <a:bodyPr/>
          <a:lstStyle>
            <a:defPPr/>
            <a:lvl1pPr marL="0" lvl="0" indent="0" algn="ctr">
              <a:buNone/>
              <a:defRPr sz="2400"/>
            </a:lvl1pPr>
            <a:lvl2pPr marL="457203" lvl="1" indent="0" algn="ctr">
              <a:buNone/>
              <a:defRPr sz="2000"/>
            </a:lvl2pPr>
            <a:lvl3pPr marL="914406" lvl="2" indent="0" algn="ctr">
              <a:buNone/>
              <a:defRPr sz="1800"/>
            </a:lvl3pPr>
            <a:lvl4pPr marL="1371609" lvl="3" indent="0" algn="ctr">
              <a:buNone/>
              <a:defRPr sz="1600"/>
            </a:lvl4pPr>
            <a:lvl5pPr marL="1828812" lvl="4" indent="0" algn="ctr">
              <a:buNone/>
              <a:defRPr sz="1600"/>
            </a:lvl5pPr>
            <a:lvl6pPr marL="2286015" lvl="5" indent="0" algn="ctr">
              <a:buNone/>
              <a:defRPr sz="1600"/>
            </a:lvl6pPr>
            <a:lvl7pPr marL="2743218" lvl="6" indent="0" algn="ctr">
              <a:buNone/>
              <a:defRPr sz="1600"/>
            </a:lvl7pPr>
            <a:lvl8pPr marL="3200421" lvl="7" indent="0" algn="ctr">
              <a:buNone/>
              <a:defRPr sz="1600"/>
            </a:lvl8pPr>
            <a:lvl9pPr marL="3657624" lvl="8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98" name="Shape 98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0E14CB2-4E09-4093-92B0-AE0CBD1AA2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Group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110" name="Shape 11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111" name="Shape 11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F0D5BA7-B203-4EE7-B692-85CBA8658BD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le and Subtitle">
    <p:spTree>
      <p:nvGrpSpPr>
        <p:cNvPr id="1" name="Group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3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6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9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12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15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18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21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24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116" name="Shape 11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117" name="Shape 11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AA5C7EC7-9C64-4AD0-8E11-6D2B6860D31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lide Title">
    <p:spTree>
      <p:nvGrpSpPr>
        <p:cNvPr id="1" name="Group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92" name="Shape 9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AA1FC3B-594A-4130-B255-C16A64886F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 and Two Columns">
    <p:spTree>
      <p:nvGrpSpPr>
        <p:cNvPr id="1" name="Group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8CADB339-4DDC-48BE-83E8-BA970CCF038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Group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22" name="Shape 2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63981D2B-81B4-4973-AAF0-F5FEF6B4C5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Group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2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1"/>
          </a:xfrm>
          <a:prstGeom prst="rect">
            <a:avLst/>
          </a:prstGeom>
        </p:spPr>
        <p:txBody>
          <a:bodyPr anchor="b"/>
          <a:lstStyle>
            <a:defPPr/>
            <a:lvl1pPr marL="0" lvl="0" indent="0">
              <a:buNone/>
              <a:defRPr sz="2400" b="1"/>
            </a:lvl1pPr>
            <a:lvl2pPr marL="457203" lvl="1" indent="0">
              <a:buNone/>
              <a:defRPr sz="2000" b="1"/>
            </a:lvl2pPr>
            <a:lvl3pPr marL="914406" lvl="2" indent="0">
              <a:buNone/>
              <a:defRPr sz="1800" b="1"/>
            </a:lvl3pPr>
            <a:lvl4pPr marL="1371609" lvl="3" indent="0">
              <a:buNone/>
              <a:defRPr sz="1600" b="1"/>
            </a:lvl4pPr>
            <a:lvl5pPr marL="1828812" lvl="4" indent="0">
              <a:buNone/>
              <a:defRPr sz="1600" b="1"/>
            </a:lvl5pPr>
            <a:lvl6pPr marL="2286015" lvl="5" indent="0">
              <a:buNone/>
              <a:defRPr sz="1600" b="1"/>
            </a:lvl6pPr>
            <a:lvl7pPr marL="2743218" lvl="6" indent="0">
              <a:buNone/>
              <a:defRPr sz="1600" b="1"/>
            </a:lvl7pPr>
            <a:lvl8pPr marL="3200421" lvl="7" indent="0">
              <a:buNone/>
              <a:defRPr sz="1600" b="1"/>
            </a:lvl8pPr>
            <a:lvl9pPr marL="3657624" lvl="8" indent="0">
              <a:buNone/>
              <a:defRPr sz="1600" b="1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78" name="Shape 7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79" name="Shape 7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7" cy="823911"/>
          </a:xfrm>
          <a:prstGeom prst="rect">
            <a:avLst/>
          </a:prstGeom>
        </p:spPr>
        <p:txBody>
          <a:bodyPr anchor="b"/>
          <a:lstStyle>
            <a:defPPr/>
            <a:lvl1pPr marL="0" lvl="0" indent="0">
              <a:buNone/>
              <a:defRPr sz="2400" b="1"/>
            </a:lvl1pPr>
            <a:lvl2pPr marL="457203" lvl="1" indent="0">
              <a:buNone/>
              <a:defRPr sz="2000" b="1"/>
            </a:lvl2pPr>
            <a:lvl3pPr marL="914406" lvl="2" indent="0">
              <a:buNone/>
              <a:defRPr sz="1800" b="1"/>
            </a:lvl3pPr>
            <a:lvl4pPr marL="1371609" lvl="3" indent="0">
              <a:buNone/>
              <a:defRPr sz="1600" b="1"/>
            </a:lvl4pPr>
            <a:lvl5pPr marL="1828812" lvl="4" indent="0">
              <a:buNone/>
              <a:defRPr sz="1600" b="1"/>
            </a:lvl5pPr>
            <a:lvl6pPr marL="2286015" lvl="5" indent="0">
              <a:buNone/>
              <a:defRPr sz="1600" b="1"/>
            </a:lvl6pPr>
            <a:lvl7pPr marL="2743218" lvl="6" indent="0">
              <a:buNone/>
              <a:defRPr sz="1600" b="1"/>
            </a:lvl7pPr>
            <a:lvl8pPr marL="3200421" lvl="7" indent="0">
              <a:buNone/>
              <a:defRPr sz="1600" b="1"/>
            </a:lvl8pPr>
            <a:lvl9pPr marL="3657624" lvl="8" indent="0">
              <a:buNone/>
              <a:defRPr sz="1600" b="1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80" name="Shape 8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9EB0B23-DD37-4CD2-8673-7EAAC818B4C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, Text and Object">
    <p:spTree>
      <p:nvGrpSpPr>
        <p:cNvPr id="1" name="Group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1600"/>
            </a:lvl1pPr>
            <a:lvl2pPr marL="457203" lvl="1" indent="0">
              <a:buNone/>
              <a:defRPr sz="1400"/>
            </a:lvl2pPr>
            <a:lvl3pPr marL="914406" lvl="2" indent="0">
              <a:buNone/>
              <a:defRPr sz="1200"/>
            </a:lvl3pPr>
            <a:lvl4pPr marL="1371609" lvl="3" indent="0">
              <a:buNone/>
              <a:defRPr sz="1000"/>
            </a:lvl4pPr>
            <a:lvl5pPr marL="1828812" lvl="4" indent="0">
              <a:buNone/>
              <a:defRPr sz="1000"/>
            </a:lvl5pPr>
            <a:lvl6pPr marL="2286015" lvl="5" indent="0">
              <a:buNone/>
              <a:defRPr sz="1000"/>
            </a:lvl6pPr>
            <a:lvl7pPr marL="2743218" lvl="6" indent="0">
              <a:buNone/>
              <a:defRPr sz="1000"/>
            </a:lvl7pPr>
            <a:lvl8pPr marL="3200421" lvl="7" indent="0">
              <a:buNone/>
              <a:defRPr sz="1000"/>
            </a:lvl8pPr>
            <a:lvl9pPr marL="3657624" lvl="8" indent="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17" name="Shape 1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18" name="Shape 1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44B7C17-CD5B-41E6-A855-693A48C413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Title and Picture">
    <p:spTree>
      <p:nvGrpSpPr>
        <p:cNvPr id="1" name="Group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199" cy="4873625"/>
          </a:xfrm>
          <a:prstGeom prst="rect">
            <a:avLst/>
          </a:prstGeom>
        </p:spPr>
        <p:txBody>
          <a:bodyPr anchor="t"/>
          <a:lstStyle>
            <a:defPPr/>
            <a:lvl1pPr marL="0" lvl="0" indent="0">
              <a:buNone/>
              <a:defRPr sz="3200"/>
            </a:lvl1pPr>
            <a:lvl2pPr marL="457203" lvl="1" indent="0">
              <a:buNone/>
              <a:defRPr sz="2800"/>
            </a:lvl2pPr>
            <a:lvl3pPr marL="914406" lvl="2" indent="0">
              <a:buNone/>
              <a:defRPr sz="2400"/>
            </a:lvl3pPr>
            <a:lvl4pPr marL="1371609" lvl="3" indent="0">
              <a:buNone/>
              <a:defRPr sz="2000"/>
            </a:lvl4pPr>
            <a:lvl5pPr marL="1828812" lvl="4" indent="0">
              <a:buNone/>
              <a:defRPr sz="2000"/>
            </a:lvl5pPr>
            <a:lvl6pPr marL="2286015" lvl="5" indent="0">
              <a:buNone/>
              <a:defRPr sz="2000"/>
            </a:lvl6pPr>
            <a:lvl7pPr marL="2743218" lvl="6" indent="0">
              <a:buNone/>
              <a:defRPr sz="2000"/>
            </a:lvl7pPr>
            <a:lvl8pPr marL="3200421" lvl="7" indent="0">
              <a:buNone/>
              <a:defRPr sz="2000"/>
            </a:lvl8pPr>
            <a:lvl9pPr marL="3657624" lvl="8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9" name="Shape 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1600"/>
            </a:lvl1pPr>
            <a:lvl2pPr marL="457203" lvl="1" indent="0">
              <a:buNone/>
              <a:defRPr sz="1400"/>
            </a:lvl2pPr>
            <a:lvl3pPr marL="914406" lvl="2" indent="0">
              <a:buNone/>
              <a:defRPr sz="1200"/>
            </a:lvl3pPr>
            <a:lvl4pPr marL="1371609" lvl="3" indent="0">
              <a:buNone/>
              <a:defRPr sz="1000"/>
            </a:lvl4pPr>
            <a:lvl5pPr marL="1828812" lvl="4" indent="0">
              <a:buNone/>
              <a:defRPr sz="1000"/>
            </a:lvl5pPr>
            <a:lvl6pPr marL="2286015" lvl="5" indent="0">
              <a:buNone/>
              <a:defRPr sz="1000"/>
            </a:lvl6pPr>
            <a:lvl7pPr marL="2743218" lvl="6" indent="0">
              <a:buNone/>
              <a:defRPr sz="1000"/>
            </a:lvl7pPr>
            <a:lvl8pPr marL="3200421" lvl="7" indent="0">
              <a:buNone/>
              <a:defRPr sz="1000"/>
            </a:lvl8pPr>
            <a:lvl9pPr marL="3657624" lvl="8" indent="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BCC4FEA-4EA8-4157-AC1E-DADDE6EF67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Group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104" name="Shape 104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105" name="Shape 10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06" name="Shape 10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572B696-E817-4D0F-AA61-01ABA3D7B04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Group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8724900" y="365126"/>
            <a:ext cx="26289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838201" y="365126"/>
            <a:ext cx="77343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87" name="Shape 8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9/30/2026</a:t>
            </a:r>
          </a:p>
        </p:txBody>
      </p:sp>
      <p:sp>
        <p:nvSpPr>
          <p:cNvPr id="88" name="Shape 8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07A725D-9C98-4EC7-9714-0B8271A890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СТРОЧНЫЙ ЗАГОЛОВОК">
    <p:spTree>
      <p:nvGrpSpPr>
        <p:cNvPr id="1" name="Group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57995" y="263346"/>
            <a:ext cx="8686005" cy="489142"/>
          </a:xfrm>
          <a:prstGeom prst="rect">
            <a:avLst/>
          </a:prstGeom>
        </p:spPr>
        <p:txBody>
          <a:bodyPr lIns="0" tIns="0" rIns="0" bIns="0"/>
          <a:lstStyle>
            <a:defPPr/>
            <a:lvl1pPr lvl="0" algn="l">
              <a:lnSpc>
                <a:spcPct val="68000"/>
              </a:lnSpc>
              <a:defRPr sz="6842" b="0" i="0" spc="-200">
                <a:solidFill>
                  <a:srgbClr val="000000"/>
                </a:solidFill>
                <a:latin typeface="TT Norms Regular"/>
                <a:ea typeface="TT Norms Regular"/>
                <a:cs typeface="TT Norms Regular"/>
              </a:defRPr>
            </a:lvl1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11440518" y="6549381"/>
            <a:ext cx="284823" cy="116885"/>
          </a:xfrm>
          <a:prstGeom prst="rect">
            <a:avLst/>
          </a:prstGeom>
        </p:spPr>
        <p:txBody>
          <a:bodyPr lIns="0" tIns="0" rIns="0" bIns="0" anchor="ctr"/>
          <a:lstStyle>
            <a:defPPr/>
            <a:lvl1pPr lvl="0" algn="r">
              <a:defRPr sz="798" b="0" i="0" spc="-50">
                <a:solidFill>
                  <a:srgbClr val="757575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F59599-3C29-4915-B2CA-92263779E23F}" type="slidenum">
              <a:t>‹#›</a:t>
            </a:fld>
            <a:endParaRPr/>
          </a:p>
        </p:txBody>
      </p:sp>
      <p:sp>
        <p:nvSpPr>
          <p:cNvPr id="28" name="Shape 28"/>
          <p:cNvSpPr/>
          <p:nvPr/>
        </p:nvSpPr>
        <p:spPr>
          <a:xfrm flipV="1">
            <a:off x="470664" y="-563452"/>
            <a:ext cx="0" cy="49302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29" name="Shape 29"/>
          <p:cNvSpPr/>
          <p:nvPr/>
        </p:nvSpPr>
        <p:spPr>
          <a:xfrm flipH="1">
            <a:off x="-1141068" y="685614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head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0" name="Shape 30"/>
          <p:cNvSpPr/>
          <p:nvPr/>
        </p:nvSpPr>
        <p:spPr>
          <a:xfrm flipH="1">
            <a:off x="-1141068" y="1239971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head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1" name="Shape 31"/>
          <p:cNvSpPr/>
          <p:nvPr/>
        </p:nvSpPr>
        <p:spPr>
          <a:xfrm flipV="1">
            <a:off x="-14618" y="-563452"/>
            <a:ext cx="0" cy="49302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2" name="Shape 32"/>
          <p:cNvSpPr/>
          <p:nvPr/>
        </p:nvSpPr>
        <p:spPr>
          <a:xfrm>
            <a:off x="-14618" y="-297378"/>
            <a:ext cx="485282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3" name="Shape 33"/>
          <p:cNvSpPr txBox="1"/>
          <p:nvPr/>
        </p:nvSpPr>
        <p:spPr>
          <a:xfrm>
            <a:off x="-108204" y="-819478"/>
            <a:ext cx="824484" cy="5659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l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Левое поле (пустое)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Shape 34"/>
          <p:cNvSpPr/>
          <p:nvPr/>
        </p:nvSpPr>
        <p:spPr>
          <a:xfrm flipV="1">
            <a:off x="12185021" y="-563452"/>
            <a:ext cx="0" cy="49302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5" name="Shape 35"/>
          <p:cNvSpPr/>
          <p:nvPr/>
        </p:nvSpPr>
        <p:spPr>
          <a:xfrm flipV="1">
            <a:off x="11717176" y="-563452"/>
            <a:ext cx="0" cy="49302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6" name="Shape 36"/>
          <p:cNvSpPr/>
          <p:nvPr/>
        </p:nvSpPr>
        <p:spPr>
          <a:xfrm>
            <a:off x="11699739" y="-297378"/>
            <a:ext cx="485282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7" name="Shape 37"/>
          <p:cNvSpPr txBox="1"/>
          <p:nvPr/>
        </p:nvSpPr>
        <p:spPr>
          <a:xfrm>
            <a:off x="11606152" y="-819478"/>
            <a:ext cx="824483" cy="5659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l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Правое поле (пустое)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Shape 38"/>
          <p:cNvSpPr/>
          <p:nvPr/>
        </p:nvSpPr>
        <p:spPr>
          <a:xfrm flipH="1">
            <a:off x="470665" y="-297378"/>
            <a:ext cx="103286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9" name="Shape 39"/>
          <p:cNvSpPr/>
          <p:nvPr/>
        </p:nvSpPr>
        <p:spPr>
          <a:xfrm flipH="1">
            <a:off x="-1141068" y="1239971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head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40" name="Shape 40"/>
          <p:cNvSpPr txBox="1"/>
          <p:nvPr/>
        </p:nvSpPr>
        <p:spPr>
          <a:xfrm>
            <a:off x="-1947783" y="306710"/>
            <a:ext cx="1839577" cy="4080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r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Базовая линия </a:t>
            </a:r>
            <a:b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первой строки заголовка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Shape 41"/>
          <p:cNvSpPr txBox="1"/>
          <p:nvPr/>
        </p:nvSpPr>
        <p:spPr>
          <a:xfrm>
            <a:off x="-1947782" y="896994"/>
            <a:ext cx="1839577" cy="4080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r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Базовая линия </a:t>
            </a:r>
            <a:b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второй строки заголовка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Shape 42"/>
          <p:cNvSpPr txBox="1"/>
          <p:nvPr/>
        </p:nvSpPr>
        <p:spPr>
          <a:xfrm>
            <a:off x="794438" y="-340926"/>
            <a:ext cx="2979148" cy="2501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r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ШАБЛОН СЛАЙДА 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3" name="Shape 43"/>
          <p:cNvSpPr txBox="1"/>
          <p:nvPr/>
        </p:nvSpPr>
        <p:spPr>
          <a:xfrm>
            <a:off x="716279" y="-464904"/>
            <a:ext cx="1839577" cy="4080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l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линия выравнивания заголовка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5" name="Picture 45"/>
          <p:cNvPicPr/>
          <p:nvPr/>
        </p:nvPicPr>
        <p:blipFill>
          <a:blip r:embed="rId2"/>
          <a:srcRect t="1" r="89613" b="8195"/>
          <a:stretch/>
        </p:blipFill>
        <p:spPr>
          <a:xfrm>
            <a:off x="11463740" y="306710"/>
            <a:ext cx="284823" cy="2617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Group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 flipH="1">
            <a:off x="-1518497" y="5767776"/>
            <a:ext cx="144763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63" name="Shape 63"/>
          <p:cNvSpPr txBox="1"/>
          <p:nvPr/>
        </p:nvSpPr>
        <p:spPr>
          <a:xfrm>
            <a:off x="2284011" y="-445629"/>
            <a:ext cx="2979148" cy="2501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r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ШАБЛОН ЗАГОЛОВОЧНОГО СЛАЙДА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4" name="Shape 64"/>
          <p:cNvSpPr txBox="1"/>
          <p:nvPr/>
        </p:nvSpPr>
        <p:spPr>
          <a:xfrm>
            <a:off x="-1162545" y="-443046"/>
            <a:ext cx="1839577" cy="2501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r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Пустое поле 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-583416" y="-227887"/>
            <a:ext cx="1260448" cy="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66" name="Shape 66"/>
          <p:cNvSpPr/>
          <p:nvPr/>
        </p:nvSpPr>
        <p:spPr>
          <a:xfrm>
            <a:off x="677032" y="-740649"/>
            <a:ext cx="0" cy="74065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67" name="Shape 67"/>
          <p:cNvSpPr/>
          <p:nvPr/>
        </p:nvSpPr>
        <p:spPr>
          <a:xfrm flipH="1">
            <a:off x="681687" y="-401166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68" name="Shape 68"/>
          <p:cNvSpPr txBox="1"/>
          <p:nvPr/>
        </p:nvSpPr>
        <p:spPr>
          <a:xfrm>
            <a:off x="927302" y="-568692"/>
            <a:ext cx="1839577" cy="4080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l"/>
            <a:r>
              <a:rPr sz="1026">
                <a:solidFill>
                  <a:schemeClr val="tx1"/>
                </a:solidFill>
                <a:latin typeface="Arial"/>
                <a:ea typeface="Arial"/>
                <a:cs typeface="Arial"/>
              </a:rPr>
              <a:t>линия выравнивания заголовка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Group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Group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1"/>
          <p:cNvPicPr/>
          <p:nvPr/>
        </p:nvPicPr>
        <p:blipFill>
          <a:blip r:embed="rId2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2" name="Shape 1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</p:sp>
      <p:pic>
        <p:nvPicPr>
          <p:cNvPr id="124" name="Picture 124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75" y="6558991"/>
            <a:ext cx="1071843" cy="2560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Group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Group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1"/>
          <p:cNvPicPr/>
          <p:nvPr/>
        </p:nvPicPr>
        <p:blipFill>
          <a:blip r:embed="rId2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2" name="Shape 7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</p:sp>
      <p:pic>
        <p:nvPicPr>
          <p:cNvPr id="74" name="Picture 74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75" y="6558991"/>
            <a:ext cx="1071843" cy="25603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Group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" name="Shape 4"/>
          <p:cNvSpPr txBox="1">
            <a:spLocks noGrp="1"/>
          </p:cNvSpPr>
          <p:nvPr>
            <p:ph type="dt" idx="2"/>
          </p:nvPr>
        </p:nvSpPr>
        <p:spPr>
          <a:xfrm>
            <a:off x="838201" y="6356351"/>
            <a:ext cx="27431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9/30/2026</a:t>
            </a:r>
          </a:p>
        </p:txBody>
      </p:sp>
      <p:sp>
        <p:nvSpPr>
          <p:cNvPr id="5" name="Shape 5"/>
          <p:cNvSpPr txBox="1"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BC8C32-6CD9-4C4D-9278-0AACFC1D004B}" type="slidenum">
              <a:t>‹#›</a:t>
            </a:fld>
            <a:endParaRPr/>
          </a:p>
        </p:txBody>
      </p:sp>
      <p:sp>
        <p:nvSpPr>
          <p:cNvPr id="7" name="Shape 7"/>
          <p:cNvSpPr/>
          <p:nvPr/>
        </p:nvSpPr>
        <p:spPr>
          <a:xfrm flipH="1">
            <a:off x="-1141068" y="685614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8" name="Shape 8"/>
          <p:cNvSpPr/>
          <p:nvPr/>
        </p:nvSpPr>
        <p:spPr>
          <a:xfrm flipH="1">
            <a:off x="-1141068" y="1239971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9" name="Shape 9"/>
          <p:cNvSpPr/>
          <p:nvPr/>
        </p:nvSpPr>
        <p:spPr>
          <a:xfrm flipH="1">
            <a:off x="-1141068" y="685614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10" name="Shape 10"/>
          <p:cNvSpPr/>
          <p:nvPr/>
        </p:nvSpPr>
        <p:spPr>
          <a:xfrm flipH="1">
            <a:off x="-1141068" y="1239971"/>
            <a:ext cx="10328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defPPr/>
      <a:lvl1pPr lvl="0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marL="228602" lvl="0" indent="-228602" algn="l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4" lvl="1" indent="-228601" algn="l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8" lvl="2" indent="-228602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10" lvl="3" indent="-228602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13" lvl="4" indent="-228601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17" lvl="5" indent="-228601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19" lvl="6" indent="-228601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22" lvl="7" indent="-228601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25" lvl="8" indent="-228601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lvl="0" indent="0" algn="l">
        <a:defRPr sz="1800">
          <a:latin typeface="+mn-lt"/>
          <a:ea typeface="+mn-ea"/>
          <a:cs typeface="+mn-cs"/>
        </a:defRPr>
      </a:lvl1pPr>
      <a:lvl2pPr marL="457203" lvl="1" indent="0" algn="l">
        <a:defRPr sz="1800">
          <a:latin typeface="+mn-lt"/>
          <a:ea typeface="+mn-ea"/>
          <a:cs typeface="+mn-cs"/>
        </a:defRPr>
      </a:lvl2pPr>
      <a:lvl3pPr marL="914406" lvl="2" indent="0" algn="l">
        <a:defRPr sz="1800">
          <a:latin typeface="+mn-lt"/>
          <a:ea typeface="+mn-ea"/>
          <a:cs typeface="+mn-cs"/>
        </a:defRPr>
      </a:lvl3pPr>
      <a:lvl4pPr marL="1371609" lvl="3" indent="0" algn="l">
        <a:defRPr sz="1800">
          <a:latin typeface="+mn-lt"/>
          <a:ea typeface="+mn-ea"/>
          <a:cs typeface="+mn-cs"/>
        </a:defRPr>
      </a:lvl4pPr>
      <a:lvl5pPr marL="1828812" lvl="4" indent="0" algn="l">
        <a:defRPr sz="1800">
          <a:latin typeface="+mn-lt"/>
          <a:ea typeface="+mn-ea"/>
          <a:cs typeface="+mn-cs"/>
        </a:defRPr>
      </a:lvl5pPr>
      <a:lvl6pPr marL="2286015" lvl="5" indent="0" algn="l">
        <a:defRPr sz="1800">
          <a:latin typeface="+mn-lt"/>
          <a:ea typeface="+mn-ea"/>
          <a:cs typeface="+mn-cs"/>
        </a:defRPr>
      </a:lvl6pPr>
      <a:lvl7pPr marL="2743218" lvl="6" indent="0" algn="l">
        <a:defRPr sz="1800">
          <a:latin typeface="+mn-lt"/>
          <a:ea typeface="+mn-ea"/>
          <a:cs typeface="+mn-cs"/>
        </a:defRPr>
      </a:lvl7pPr>
      <a:lvl8pPr marL="3200421" lvl="7" indent="0" algn="l">
        <a:defRPr sz="1800">
          <a:latin typeface="+mn-lt"/>
          <a:ea typeface="+mn-ea"/>
          <a:cs typeface="+mn-cs"/>
        </a:defRPr>
      </a:lvl8pPr>
      <a:lvl9pPr marL="3657624" lvl="8" indent="0" algn="l">
        <a:defRPr sz="1800"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Group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defPPr/>
      <a:lvl1pPr lvl="0" algn="ctr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marL="342900" lvl="0" indent="-342900" algn="l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lvl="0" indent="0" algn="l">
        <a:defRPr sz="1800">
          <a:latin typeface="+mn-lt"/>
          <a:ea typeface="+mn-ea"/>
          <a:cs typeface="+mn-cs"/>
        </a:defRPr>
      </a:lvl1pPr>
      <a:lvl2pPr marL="457200" lvl="1" indent="0" algn="l">
        <a:defRPr sz="1800">
          <a:latin typeface="+mn-lt"/>
          <a:ea typeface="+mn-ea"/>
          <a:cs typeface="+mn-cs"/>
        </a:defRPr>
      </a:lvl2pPr>
      <a:lvl3pPr marL="914400" lvl="2" indent="0" algn="l">
        <a:defRPr sz="1800">
          <a:latin typeface="+mn-lt"/>
          <a:ea typeface="+mn-ea"/>
          <a:cs typeface="+mn-cs"/>
        </a:defRPr>
      </a:lvl3pPr>
      <a:lvl4pPr marL="1371600" lvl="3" indent="0" algn="l">
        <a:defRPr sz="1800">
          <a:latin typeface="+mn-lt"/>
          <a:ea typeface="+mn-ea"/>
          <a:cs typeface="+mn-cs"/>
        </a:defRPr>
      </a:lvl4pPr>
      <a:lvl5pPr marL="1828800" lvl="4" indent="0" algn="l">
        <a:defRPr sz="1800">
          <a:latin typeface="+mn-lt"/>
          <a:ea typeface="+mn-ea"/>
          <a:cs typeface="+mn-cs"/>
        </a:defRPr>
      </a:lvl5pPr>
      <a:lvl6pPr marL="2286000" lvl="5" indent="0" algn="l">
        <a:defRPr sz="1800">
          <a:latin typeface="+mn-lt"/>
          <a:ea typeface="+mn-ea"/>
          <a:cs typeface="+mn-cs"/>
        </a:defRPr>
      </a:lvl6pPr>
      <a:lvl7pPr marL="2743200" lvl="6" indent="0" algn="l">
        <a:defRPr sz="1800">
          <a:latin typeface="+mn-lt"/>
          <a:ea typeface="+mn-ea"/>
          <a:cs typeface="+mn-cs"/>
        </a:defRPr>
      </a:lvl7pPr>
      <a:lvl8pPr marL="3200400" lvl="7" indent="0" algn="l">
        <a:defRPr sz="1800">
          <a:latin typeface="+mn-lt"/>
          <a:ea typeface="+mn-ea"/>
          <a:cs typeface="+mn-cs"/>
        </a:defRPr>
      </a:lvl8pPr>
      <a:lvl9pPr marL="3657600" lvl="8" indent="0" algn="l">
        <a:defRPr sz="1800"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Group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defPPr/>
      <a:lvl1pPr lvl="0" algn="ctr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marL="342900" lvl="0" indent="-342900" algn="l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lvl="0" indent="0" algn="l">
        <a:defRPr sz="1800">
          <a:latin typeface="+mn-lt"/>
          <a:ea typeface="+mn-ea"/>
          <a:cs typeface="+mn-cs"/>
        </a:defRPr>
      </a:lvl1pPr>
      <a:lvl2pPr marL="457200" lvl="1" indent="0" algn="l">
        <a:defRPr sz="1800">
          <a:latin typeface="+mn-lt"/>
          <a:ea typeface="+mn-ea"/>
          <a:cs typeface="+mn-cs"/>
        </a:defRPr>
      </a:lvl2pPr>
      <a:lvl3pPr marL="914400" lvl="2" indent="0" algn="l">
        <a:defRPr sz="1800">
          <a:latin typeface="+mn-lt"/>
          <a:ea typeface="+mn-ea"/>
          <a:cs typeface="+mn-cs"/>
        </a:defRPr>
      </a:lvl3pPr>
      <a:lvl4pPr marL="1371600" lvl="3" indent="0" algn="l">
        <a:defRPr sz="1800">
          <a:latin typeface="+mn-lt"/>
          <a:ea typeface="+mn-ea"/>
          <a:cs typeface="+mn-cs"/>
        </a:defRPr>
      </a:lvl4pPr>
      <a:lvl5pPr marL="1828800" lvl="4" indent="0" algn="l">
        <a:defRPr sz="1800">
          <a:latin typeface="+mn-lt"/>
          <a:ea typeface="+mn-ea"/>
          <a:cs typeface="+mn-cs"/>
        </a:defRPr>
      </a:lvl5pPr>
      <a:lvl6pPr marL="2286000" lvl="5" indent="0" algn="l">
        <a:defRPr sz="1800">
          <a:latin typeface="+mn-lt"/>
          <a:ea typeface="+mn-ea"/>
          <a:cs typeface="+mn-cs"/>
        </a:defRPr>
      </a:lvl6pPr>
      <a:lvl7pPr marL="2743200" lvl="6" indent="0" algn="l">
        <a:defRPr sz="1800">
          <a:latin typeface="+mn-lt"/>
          <a:ea typeface="+mn-ea"/>
          <a:cs typeface="+mn-cs"/>
        </a:defRPr>
      </a:lvl7pPr>
      <a:lvl8pPr marL="3200400" lvl="7" indent="0" algn="l">
        <a:defRPr sz="1800">
          <a:latin typeface="+mn-lt"/>
          <a:ea typeface="+mn-ea"/>
          <a:cs typeface="+mn-cs"/>
        </a:defRPr>
      </a:lvl8pPr>
      <a:lvl9pPr marL="3657600" lvl="8" indent="0" algn="l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png"/><Relationship Id="rId11" Type="http://schemas.openxmlformats.org/officeDocument/2006/relationships/image" Target="../media/image1.pn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image" Target="../media/image4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27"/>
          <p:cNvPicPr/>
          <p:nvPr/>
        </p:nvPicPr>
        <p:blipFill>
          <a:blip r:embed="rId2"/>
          <a:stretch/>
        </p:blipFill>
        <p:spPr>
          <a:xfrm>
            <a:off x="-11880" y="0"/>
            <a:ext cx="4571886" cy="6858000"/>
          </a:xfrm>
          <a:prstGeom prst="rect">
            <a:avLst/>
          </a:prstGeom>
        </p:spPr>
      </p:pic>
      <p:pic>
        <p:nvPicPr>
          <p:cNvPr id="129" name="Picture 129"/>
          <p:cNvPicPr/>
          <p:nvPr/>
        </p:nvPicPr>
        <p:blipFill>
          <a:blip r:embed="rId3"/>
          <a:stretch/>
        </p:blipFill>
        <p:spPr>
          <a:xfrm>
            <a:off x="1422832" y="416860"/>
            <a:ext cx="3355830" cy="348947"/>
          </a:xfrm>
          <a:prstGeom prst="rect">
            <a:avLst/>
          </a:prstGeom>
        </p:spPr>
      </p:pic>
      <p:sp>
        <p:nvSpPr>
          <p:cNvPr id="130" name="Shape 130"/>
          <p:cNvSpPr/>
          <p:nvPr/>
        </p:nvSpPr>
        <p:spPr>
          <a:xfrm>
            <a:off x="-11880" y="5597317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131" name="Shape 131"/>
          <p:cNvSpPr/>
          <p:nvPr/>
        </p:nvSpPr>
        <p:spPr>
          <a:xfrm>
            <a:off x="4778663" y="961542"/>
            <a:ext cx="5676344" cy="319792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80000"/>
              </a:lnSpc>
            </a:pPr>
            <a:r>
              <a:rPr sz="4800" spc="-272">
                <a:solidFill>
                  <a:srgbClr val="000000"/>
                </a:solidFill>
                <a:latin typeface="Arial"/>
                <a:ea typeface="Arial"/>
                <a:cs typeface="Arial"/>
              </a:rPr>
              <a:t>Лекция 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/>
            <a:r>
              <a:rPr sz="4800" spc="-272">
                <a:solidFill>
                  <a:srgbClr val="FF0040"/>
                </a:solidFill>
                <a:latin typeface="Arial"/>
                <a:ea typeface="Arial"/>
                <a:cs typeface="Arial"/>
              </a:rPr>
              <a:t>«Технология разработки ПО. Жизненный цикл программного продукта»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2582458" y="5919531"/>
            <a:ext cx="6185832" cy="72066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/>
          <a:lstStyle/>
          <a:p>
            <a:pPr marL="0" indent="0" algn="l"/>
            <a:r>
              <a:rPr lang="ru-RU" sz="2268" dirty="0">
                <a:solidFill>
                  <a:srgbClr val="000000"/>
                </a:solidFill>
                <a:latin typeface="Arial"/>
                <a:cs typeface="Arial"/>
              </a:rPr>
              <a:t>Лощина Валентина Григорьевна</a:t>
            </a:r>
            <a:endParaRPr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34" name="Picture 13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59513" y="5906667"/>
            <a:ext cx="329713" cy="329763"/>
          </a:xfrm>
          <a:prstGeom prst="rect">
            <a:avLst/>
          </a:prstGeom>
        </p:spPr>
      </p:pic>
      <p:sp>
        <p:nvSpPr>
          <p:cNvPr id="135" name="Shape 135"/>
          <p:cNvSpPr/>
          <p:nvPr/>
        </p:nvSpPr>
        <p:spPr>
          <a:xfrm>
            <a:off x="9285508" y="90"/>
            <a:ext cx="2906493" cy="5597227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  <a:gd name="OXMLTextRectL" fmla="val 0"/>
              <a:gd name="OXMLTextRectT" fmla="val 0"/>
              <a:gd name="OXMLTextRectR" fmla="val w"/>
              <a:gd name="OXMLTextRectB" fmla="val h"/>
              <a:gd name="COTextRectL" fmla="*/ OXMLTextRectL 1 w"/>
              <a:gd name="COTextRectT" fmla="*/ OXMLTextRectT 1 h"/>
              <a:gd name="COTextRectR" fmla="*/ OXMLTextRectR 1 w"/>
              <a:gd name="COTextRectB" fmla="*/ OXMLTextRectB 1 h"/>
              <a:gd name="ODFLeft" fmla="val 0"/>
              <a:gd name="ODFTop" fmla="val 0"/>
              <a:gd name="ODFRight" fmla="val 1549"/>
              <a:gd name="ODFBottom" fmla="val 3034"/>
              <a:gd name="ODFWidth" fmla="val 1549"/>
              <a:gd name="ODFHeight" fmla="val 3034"/>
            </a:gdLst>
            <a:ahLst/>
            <a:cxnLst/>
            <a:rect l="OXMLTextRectL" t="OXMLTextRectT" r="OXMLTextRectR" b="OXMLTextRect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noFill/>
          <a:ln w="6350">
            <a:solidFill>
              <a:srgbClr val="FF0040"/>
            </a:solidFill>
            <a:prstDash val="solid"/>
          </a:ln>
        </p:spPr>
        <p:txBody>
          <a:bodyPr vert="horz" wrap="square" lIns="82951" tIns="41475" rIns="82951" bIns="41475" anchor="t"/>
          <a:lstStyle/>
          <a:p>
            <a:pPr marL="0" indent="0" algn="l"/>
            <a:endParaRPr sz="1633">
              <a:solidFill>
                <a:srgbClr val="000000"/>
              </a:solidFill>
              <a:latin typeface="TT Norms Regular"/>
              <a:ea typeface="TT Norms Regular"/>
              <a:cs typeface="TT Norms Regular"/>
            </a:endParaRPr>
          </a:p>
        </p:txBody>
      </p:sp>
      <p:sp>
        <p:nvSpPr>
          <p:cNvPr id="136" name="Shape 136"/>
          <p:cNvSpPr/>
          <p:nvPr/>
        </p:nvSpPr>
        <p:spPr>
          <a:xfrm>
            <a:off x="9028408" y="5717719"/>
            <a:ext cx="2179484" cy="251419"/>
          </a:xfrm>
          <a:prstGeom prst="roundRect">
            <a:avLst>
              <a:gd name="adj" fmla="val 22103"/>
            </a:avLst>
          </a:prstGeom>
          <a:solidFill>
            <a:srgbClr val="FFD8CC"/>
          </a:solidFill>
          <a:ln>
            <a:prstDash val="solid"/>
          </a:ln>
        </p:spPr>
      </p:sp>
      <p:sp>
        <p:nvSpPr>
          <p:cNvPr id="137" name="Shape 137"/>
          <p:cNvSpPr/>
          <p:nvPr/>
        </p:nvSpPr>
        <p:spPr>
          <a:xfrm>
            <a:off x="9061522" y="5767329"/>
            <a:ext cx="2590636" cy="1522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ПРОЕКТИРОВАНИЕ И ДИЗАЙН ИС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11290539" y="5717719"/>
            <a:ext cx="782618" cy="251419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139" name="Shape 139"/>
          <p:cNvSpPr/>
          <p:nvPr/>
        </p:nvSpPr>
        <p:spPr>
          <a:xfrm>
            <a:off x="11389755" y="5767329"/>
            <a:ext cx="1193769" cy="1522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FFAD94"/>
                </a:solidFill>
                <a:latin typeface="Open Sans"/>
                <a:ea typeface="Open Sans"/>
                <a:cs typeface="Open Sans"/>
              </a:rPr>
              <a:t>ОСНОВЫ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/>
        </p:nvSpPr>
        <p:spPr>
          <a:xfrm>
            <a:off x="661475" y="1151037"/>
            <a:ext cx="10868745" cy="51673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Цели и задачи лекции</a:t>
            </a:r>
            <a:endParaRPr sz="3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2" name="Shape 142"/>
          <p:cNvSpPr/>
          <p:nvPr/>
        </p:nvSpPr>
        <p:spPr>
          <a:xfrm>
            <a:off x="542415" y="1915815"/>
            <a:ext cx="6034333" cy="3791049"/>
          </a:xfrm>
          <a:prstGeom prst="roundRect">
            <a:avLst>
              <a:gd name="adj" fmla="val 3141"/>
            </a:avLst>
          </a:prstGeom>
          <a:solidFill>
            <a:srgbClr val="FFAD94"/>
          </a:solidFill>
          <a:ln>
            <a:prstDash val="solid"/>
          </a:ln>
        </p:spPr>
      </p:sp>
      <p:sp>
        <p:nvSpPr>
          <p:cNvPr id="143" name="Shape 143"/>
          <p:cNvSpPr/>
          <p:nvPr/>
        </p:nvSpPr>
        <p:spPr>
          <a:xfrm>
            <a:off x="707710" y="2081113"/>
            <a:ext cx="5703745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Цель занятия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707710" y="2504877"/>
            <a:ext cx="5703745" cy="105846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Сформировать у обучающихся понимание сущности технологии разработки ПО и жизненного цикла программного продукта, а также осознать их взаимосвязь в современной инженерии программного обеспечения.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6867452" y="2081113"/>
            <a:ext cx="4669018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Задачи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6" name="Shape 146"/>
          <p:cNvSpPr/>
          <p:nvPr/>
        </p:nvSpPr>
        <p:spPr>
          <a:xfrm>
            <a:off x="6867452" y="2504877"/>
            <a:ext cx="4669018" cy="143877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Раскрыть понятие «технология разработки ПО»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Изучить этапы жизненного цикла программного продукта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Рассмотреть связь между технологией и жизненным циклом</a:t>
            </a:r>
            <a:endParaRPr sz="1300"/>
          </a:p>
        </p:txBody>
      </p:sp>
      <p:sp>
        <p:nvSpPr>
          <p:cNvPr id="147" name="Shape 147"/>
          <p:cNvSpPr/>
          <p:nvPr/>
        </p:nvSpPr>
        <p:spPr>
          <a:xfrm>
            <a:off x="6867452" y="4108946"/>
            <a:ext cx="4669018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Формируемые компетенции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6867452" y="4532709"/>
            <a:ext cx="4669018" cy="111630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ОК 01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Выбирать способы решения задач профессиональной деятельности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ОК 02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Использовать современные средства поиска и анализа информации</a:t>
            </a:r>
            <a:endParaRPr sz="1300"/>
          </a:p>
        </p:txBody>
      </p:sp>
      <p:sp>
        <p:nvSpPr>
          <p:cNvPr id="149" name="Shape 149"/>
          <p:cNvSpPr/>
          <p:nvPr/>
        </p:nvSpPr>
        <p:spPr>
          <a:xfrm>
            <a:off x="-11880" y="170503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150" name="Shape 150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52" name="Picture 152"/>
          <p:cNvPicPr/>
          <p:nvPr/>
        </p:nvPicPr>
        <p:blipFill>
          <a:blip r:embed="rId2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5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475" y="1955112"/>
            <a:ext cx="10868745" cy="682227"/>
          </a:xfrm>
          <a:prstGeom prst="rect">
            <a:avLst/>
          </a:prstGeom>
        </p:spPr>
      </p:pic>
      <p:sp>
        <p:nvSpPr>
          <p:cNvPr id="156" name="Shape 156"/>
          <p:cNvSpPr/>
          <p:nvPr/>
        </p:nvSpPr>
        <p:spPr>
          <a:xfrm>
            <a:off x="813077" y="2189665"/>
            <a:ext cx="170552" cy="21312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1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Shape 157"/>
          <p:cNvSpPr/>
          <p:nvPr/>
        </p:nvSpPr>
        <p:spPr>
          <a:xfrm>
            <a:off x="1207065" y="2214442"/>
            <a:ext cx="10196754" cy="17770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Что такое технология разработки ПО и зачем она нужна?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59" name="Picture 15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5687" y="2704415"/>
            <a:ext cx="10868745" cy="682227"/>
          </a:xfrm>
          <a:prstGeom prst="rect">
            <a:avLst/>
          </a:prstGeom>
        </p:spPr>
      </p:pic>
      <p:sp>
        <p:nvSpPr>
          <p:cNvPr id="160" name="Shape 160"/>
          <p:cNvSpPr/>
          <p:nvPr/>
        </p:nvSpPr>
        <p:spPr>
          <a:xfrm>
            <a:off x="813077" y="2949978"/>
            <a:ext cx="170552" cy="21312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2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2" name="Picture 16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5685" y="3429000"/>
            <a:ext cx="10868745" cy="682228"/>
          </a:xfrm>
          <a:prstGeom prst="rect">
            <a:avLst/>
          </a:prstGeom>
        </p:spPr>
      </p:pic>
      <p:sp>
        <p:nvSpPr>
          <p:cNvPr id="163" name="Shape 163"/>
          <p:cNvSpPr/>
          <p:nvPr/>
        </p:nvSpPr>
        <p:spPr>
          <a:xfrm>
            <a:off x="813077" y="3688257"/>
            <a:ext cx="170552" cy="21312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3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5" name="Picture 16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475" y="4236052"/>
            <a:ext cx="10868745" cy="682228"/>
          </a:xfrm>
          <a:prstGeom prst="rect">
            <a:avLst/>
          </a:prstGeom>
        </p:spPr>
      </p:pic>
      <p:sp>
        <p:nvSpPr>
          <p:cNvPr id="166" name="Shape 166"/>
          <p:cNvSpPr/>
          <p:nvPr/>
        </p:nvSpPr>
        <p:spPr>
          <a:xfrm>
            <a:off x="813077" y="4470605"/>
            <a:ext cx="170552" cy="21312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4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8" name="Picture 16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5684" y="4996365"/>
            <a:ext cx="10868745" cy="682228"/>
          </a:xfrm>
          <a:prstGeom prst="rect">
            <a:avLst/>
          </a:prstGeom>
        </p:spPr>
      </p:pic>
      <p:sp>
        <p:nvSpPr>
          <p:cNvPr id="169" name="Shape 169"/>
          <p:cNvSpPr/>
          <p:nvPr/>
        </p:nvSpPr>
        <p:spPr>
          <a:xfrm>
            <a:off x="813077" y="5230918"/>
            <a:ext cx="170552" cy="21312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5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Shape 170"/>
          <p:cNvSpPr/>
          <p:nvPr/>
        </p:nvSpPr>
        <p:spPr>
          <a:xfrm>
            <a:off x="661475" y="5720950"/>
            <a:ext cx="10868745" cy="358676"/>
          </a:xfrm>
          <a:prstGeom prst="roundRect">
            <a:avLst>
              <a:gd name="adj" fmla="val 13315"/>
            </a:avLst>
          </a:prstGeom>
          <a:solidFill>
            <a:srgbClr val="FFD8CC"/>
          </a:solidFill>
          <a:ln>
            <a:prstDash val="solid"/>
          </a:ln>
        </p:spPr>
        <p:txBody>
          <a:bodyPr lIns="91440" tIns="45720" rIns="91440" bIns="45720"/>
          <a:lstStyle/>
          <a:p>
            <a:pPr marL="0" indent="0" algn="l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2" name="Picture 172"/>
          <p:cNvPicPr/>
          <p:nvPr/>
        </p:nvPicPr>
        <p:blipFill>
          <a:blip r:embed="rId3"/>
          <a:stretch/>
        </p:blipFill>
        <p:spPr>
          <a:xfrm>
            <a:off x="775177" y="5875046"/>
            <a:ext cx="142078" cy="113705"/>
          </a:xfrm>
          <a:prstGeom prst="rect">
            <a:avLst/>
          </a:prstGeom>
        </p:spPr>
      </p:pic>
      <p:sp>
        <p:nvSpPr>
          <p:cNvPr id="173" name="Shape 173"/>
          <p:cNvSpPr/>
          <p:nvPr/>
        </p:nvSpPr>
        <p:spPr>
          <a:xfrm>
            <a:off x="1030955" y="5872962"/>
            <a:ext cx="10995147" cy="15349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Курс построен так, что каждый модуль даёт практические навыки для портфолио. В этой индустрии </a:t>
            </a:r>
            <a:r>
              <a:rPr sz="850" b="1" i="0" u="none" strike="noStrike" cap="none" spc="0" baseline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портфолио важнее диплома</a:t>
            </a:r>
            <a:r>
              <a:rPr sz="85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 sz="8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Shape 174"/>
          <p:cNvSpPr/>
          <p:nvPr/>
        </p:nvSpPr>
        <p:spPr>
          <a:xfrm>
            <a:off x="10955708" y="6245016"/>
            <a:ext cx="1236139" cy="33755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b="0" i="0" u="none" strike="noStrike" cap="none" spc="0" baseline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6" name="Picture 176"/>
          <p:cNvPicPr/>
          <p:nvPr/>
        </p:nvPicPr>
        <p:blipFill>
          <a:blip r:embed="rId4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  <p:sp>
        <p:nvSpPr>
          <p:cNvPr id="177" name="Shape 177"/>
          <p:cNvSpPr/>
          <p:nvPr/>
        </p:nvSpPr>
        <p:spPr>
          <a:xfrm>
            <a:off x="661475" y="1151037"/>
            <a:ext cx="10868745" cy="51673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План лекции</a:t>
            </a:r>
            <a:endParaRPr sz="3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8" name="Shape 178"/>
          <p:cNvSpPr/>
          <p:nvPr/>
        </p:nvSpPr>
        <p:spPr>
          <a:xfrm>
            <a:off x="-11880" y="170503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179" name="Shape 179"/>
          <p:cNvSpPr/>
          <p:nvPr/>
        </p:nvSpPr>
        <p:spPr>
          <a:xfrm>
            <a:off x="1207065" y="2938469"/>
            <a:ext cx="10196754" cy="17770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Жизненный цикл программного продукта и его основные этапы.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0" name="Shape 180"/>
          <p:cNvSpPr/>
          <p:nvPr/>
        </p:nvSpPr>
        <p:spPr>
          <a:xfrm>
            <a:off x="1207065" y="3664945"/>
            <a:ext cx="10196754" cy="1777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Связь технологии и жизненного цикла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1" name="Shape 181"/>
          <p:cNvSpPr/>
          <p:nvPr/>
        </p:nvSpPr>
        <p:spPr>
          <a:xfrm>
            <a:off x="1207065" y="4470605"/>
            <a:ext cx="10196754" cy="1777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Модели жизненного цикла ПО</a:t>
            </a:r>
            <a:endParaRPr sz="16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Shape 182"/>
          <p:cNvSpPr/>
          <p:nvPr/>
        </p:nvSpPr>
        <p:spPr>
          <a:xfrm>
            <a:off x="1207065" y="5200310"/>
            <a:ext cx="10196754" cy="1777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Вопросы для самоконтроля</a:t>
            </a: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. </a:t>
            </a: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Домашнее задание и литература</a:t>
            </a: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</a:t>
            </a:r>
            <a:endParaRPr sz="16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661475" y="673398"/>
            <a:ext cx="10868745" cy="51673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Что такое технология разработки ПО?</a:t>
            </a:r>
            <a:endParaRPr sz="3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6" name="Shape 186"/>
          <p:cNvSpPr/>
          <p:nvPr/>
        </p:nvSpPr>
        <p:spPr>
          <a:xfrm>
            <a:off x="661475" y="1520825"/>
            <a:ext cx="10868745" cy="79384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Технология разработки ПО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это совокупность методов, инструментов, процессов и практик, используемых для создания программного продукта от начальной идеи до его полного вывода из эксплуатации. Простыми словами: технология отвечает на вопрос </a:t>
            </a:r>
            <a:r>
              <a:rPr sz="1300" i="1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«как именно мы делаем программы?»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661475" y="2500709"/>
            <a:ext cx="3512653" cy="1891605"/>
          </a:xfrm>
          <a:prstGeom prst="roundRect">
            <a:avLst>
              <a:gd name="adj" fmla="val 3672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88" name="Shape 188"/>
          <p:cNvSpPr/>
          <p:nvPr/>
        </p:nvSpPr>
        <p:spPr>
          <a:xfrm>
            <a:off x="833119" y="2672358"/>
            <a:ext cx="496081" cy="496093"/>
          </a:xfrm>
          <a:prstGeom prst="ellipse">
            <a:avLst/>
          </a:prstGeom>
          <a:solidFill>
            <a:srgbClr val="FFAD94"/>
          </a:solidFill>
          <a:ln>
            <a:prstDash val="solid"/>
          </a:ln>
        </p:spPr>
      </p:sp>
      <p:pic>
        <p:nvPicPr>
          <p:cNvPr id="190" name="Picture 19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69541" y="2808684"/>
            <a:ext cx="223236" cy="223242"/>
          </a:xfrm>
          <a:prstGeom prst="rect">
            <a:avLst/>
          </a:prstGeom>
        </p:spPr>
      </p:pic>
      <p:sp>
        <p:nvSpPr>
          <p:cNvPr id="191" name="Shape 191"/>
          <p:cNvSpPr/>
          <p:nvPr/>
        </p:nvSpPr>
        <p:spPr>
          <a:xfrm>
            <a:off x="833119" y="3333750"/>
            <a:ext cx="3169364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Методы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833119" y="3691434"/>
            <a:ext cx="3169364" cy="52923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Подходы к анализу, проектированию, кодированию и тестированию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3" name="Shape 193"/>
          <p:cNvSpPr/>
          <p:nvPr/>
        </p:nvSpPr>
        <p:spPr>
          <a:xfrm>
            <a:off x="4339422" y="2500709"/>
            <a:ext cx="3512751" cy="1891605"/>
          </a:xfrm>
          <a:prstGeom prst="roundRect">
            <a:avLst>
              <a:gd name="adj" fmla="val 3672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94" name="Shape 194"/>
          <p:cNvSpPr/>
          <p:nvPr/>
        </p:nvSpPr>
        <p:spPr>
          <a:xfrm>
            <a:off x="4511066" y="2672358"/>
            <a:ext cx="496080" cy="496093"/>
          </a:xfrm>
          <a:prstGeom prst="ellipse">
            <a:avLst/>
          </a:prstGeom>
          <a:solidFill>
            <a:srgbClr val="FFAD94"/>
          </a:solidFill>
          <a:ln>
            <a:prstDash val="solid"/>
          </a:ln>
        </p:spPr>
      </p:sp>
      <p:pic>
        <p:nvPicPr>
          <p:cNvPr id="196" name="Picture 19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647488" y="2808684"/>
            <a:ext cx="223237" cy="223242"/>
          </a:xfrm>
          <a:prstGeom prst="rect">
            <a:avLst/>
          </a:prstGeom>
        </p:spPr>
      </p:pic>
      <p:sp>
        <p:nvSpPr>
          <p:cNvPr id="197" name="Shape 197"/>
          <p:cNvSpPr/>
          <p:nvPr/>
        </p:nvSpPr>
        <p:spPr>
          <a:xfrm>
            <a:off x="4511066" y="3333750"/>
            <a:ext cx="3169463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Инструменты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4511066" y="3691434"/>
            <a:ext cx="3169463" cy="52923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IDE, компиляторы, системы контроля версий, баг-трекеры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9" name="Shape 199"/>
          <p:cNvSpPr/>
          <p:nvPr/>
        </p:nvSpPr>
        <p:spPr>
          <a:xfrm>
            <a:off x="8017468" y="2500709"/>
            <a:ext cx="3512653" cy="1891605"/>
          </a:xfrm>
          <a:prstGeom prst="roundRect">
            <a:avLst>
              <a:gd name="adj" fmla="val 3672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200" name="Shape 200"/>
          <p:cNvSpPr/>
          <p:nvPr/>
        </p:nvSpPr>
        <p:spPr>
          <a:xfrm>
            <a:off x="8189112" y="2672358"/>
            <a:ext cx="496081" cy="496093"/>
          </a:xfrm>
          <a:prstGeom prst="ellipse">
            <a:avLst/>
          </a:prstGeom>
          <a:solidFill>
            <a:srgbClr val="FFAD94"/>
          </a:solidFill>
          <a:ln>
            <a:prstDash val="solid"/>
          </a:ln>
        </p:spPr>
      </p:sp>
      <p:pic>
        <p:nvPicPr>
          <p:cNvPr id="202" name="Picture 20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325535" y="2808684"/>
            <a:ext cx="223236" cy="223242"/>
          </a:xfrm>
          <a:prstGeom prst="rect">
            <a:avLst/>
          </a:prstGeom>
        </p:spPr>
      </p:pic>
      <p:sp>
        <p:nvSpPr>
          <p:cNvPr id="203" name="Shape 203"/>
          <p:cNvSpPr/>
          <p:nvPr/>
        </p:nvSpPr>
        <p:spPr>
          <a:xfrm>
            <a:off x="8189112" y="3333750"/>
            <a:ext cx="3169364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Процессы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8189112" y="3691434"/>
            <a:ext cx="3169364" cy="52923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Последовательность этапов, роли, артефакты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661475" y="4557613"/>
            <a:ext cx="5351626" cy="1626989"/>
          </a:xfrm>
          <a:prstGeom prst="roundRect">
            <a:avLst>
              <a:gd name="adj" fmla="val 4270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206" name="Shape 206"/>
          <p:cNvSpPr/>
          <p:nvPr/>
        </p:nvSpPr>
        <p:spPr>
          <a:xfrm>
            <a:off x="833119" y="4729262"/>
            <a:ext cx="496081" cy="496094"/>
          </a:xfrm>
          <a:prstGeom prst="ellipse">
            <a:avLst/>
          </a:prstGeom>
          <a:solidFill>
            <a:srgbClr val="FFAD94"/>
          </a:solidFill>
          <a:ln>
            <a:prstDash val="solid"/>
          </a:ln>
        </p:spPr>
      </p:sp>
      <p:pic>
        <p:nvPicPr>
          <p:cNvPr id="208" name="Picture 20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9541" y="4865588"/>
            <a:ext cx="223236" cy="223241"/>
          </a:xfrm>
          <a:prstGeom prst="rect">
            <a:avLst/>
          </a:prstGeom>
        </p:spPr>
      </p:pic>
      <p:sp>
        <p:nvSpPr>
          <p:cNvPr id="209" name="Shape 209"/>
          <p:cNvSpPr/>
          <p:nvPr/>
        </p:nvSpPr>
        <p:spPr>
          <a:xfrm>
            <a:off x="833119" y="5390654"/>
            <a:ext cx="5008338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Практики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833119" y="5748338"/>
            <a:ext cx="5008338" cy="26461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Code Review, парное программирование, CI/CD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6178395" y="4557613"/>
            <a:ext cx="5351724" cy="1626989"/>
          </a:xfrm>
          <a:prstGeom prst="roundRect">
            <a:avLst>
              <a:gd name="adj" fmla="val 4270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212" name="Shape 212"/>
          <p:cNvSpPr/>
          <p:nvPr/>
        </p:nvSpPr>
        <p:spPr>
          <a:xfrm>
            <a:off x="6350040" y="4729262"/>
            <a:ext cx="496080" cy="496094"/>
          </a:xfrm>
          <a:prstGeom prst="ellipse">
            <a:avLst/>
          </a:prstGeom>
          <a:solidFill>
            <a:srgbClr val="FFAD94"/>
          </a:solidFill>
          <a:ln>
            <a:prstDash val="solid"/>
          </a:ln>
        </p:spPr>
      </p:sp>
      <p:pic>
        <p:nvPicPr>
          <p:cNvPr id="214" name="Picture 2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86462" y="4865588"/>
            <a:ext cx="223237" cy="223241"/>
          </a:xfrm>
          <a:prstGeom prst="rect">
            <a:avLst/>
          </a:prstGeom>
        </p:spPr>
      </p:pic>
      <p:sp>
        <p:nvSpPr>
          <p:cNvPr id="215" name="Shape 215"/>
          <p:cNvSpPr/>
          <p:nvPr/>
        </p:nvSpPr>
        <p:spPr>
          <a:xfrm>
            <a:off x="6350040" y="5390654"/>
            <a:ext cx="5008437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Стандарты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6350040" y="5748338"/>
            <a:ext cx="5008437" cy="26461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ГОСТ, ISO, внутренние регламенты компании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-11880" y="127537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218" name="Shape 218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20" name="Picture 220"/>
          <p:cNvPicPr/>
          <p:nvPr/>
        </p:nvPicPr>
        <p:blipFill>
          <a:blip r:embed="rId7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/>
        </p:nvSpPr>
        <p:spPr>
          <a:xfrm>
            <a:off x="661475" y="1374080"/>
            <a:ext cx="10868745" cy="51673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Зачем нужна технология?</a:t>
            </a:r>
            <a:endParaRPr sz="3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661475" y="2304157"/>
            <a:ext cx="5232666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Без технологии — хаос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4" name="Shape 224"/>
          <p:cNvSpPr/>
          <p:nvPr/>
        </p:nvSpPr>
        <p:spPr>
          <a:xfrm>
            <a:off x="661475" y="2727920"/>
            <a:ext cx="5232666" cy="123199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Никто не знает, кто за что отвечает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Требования теряются по ходу проекта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Ошибки обнаруживаются слишком поздно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Проект не укладывается в сроки и бюджет</a:t>
            </a:r>
            <a:endParaRPr sz="1300"/>
          </a:p>
        </p:txBody>
      </p:sp>
      <p:sp>
        <p:nvSpPr>
          <p:cNvPr id="225" name="Shape 225"/>
          <p:cNvSpPr/>
          <p:nvPr/>
        </p:nvSpPr>
        <p:spPr>
          <a:xfrm>
            <a:off x="6184844" y="2138859"/>
            <a:ext cx="5470785" cy="2233116"/>
          </a:xfrm>
          <a:prstGeom prst="roundRect">
            <a:avLst>
              <a:gd name="adj" fmla="val 5333"/>
            </a:avLst>
          </a:prstGeom>
          <a:solidFill>
            <a:srgbClr val="FFAD94"/>
          </a:solidFill>
          <a:ln>
            <a:prstDash val="solid"/>
          </a:ln>
        </p:spPr>
      </p:sp>
      <p:sp>
        <p:nvSpPr>
          <p:cNvPr id="226" name="Shape 226"/>
          <p:cNvSpPr/>
          <p:nvPr/>
        </p:nvSpPr>
        <p:spPr>
          <a:xfrm>
            <a:off x="6350139" y="2304157"/>
            <a:ext cx="5140196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Технология даёт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7" name="Shape 227"/>
          <p:cNvSpPr/>
          <p:nvPr/>
        </p:nvSpPr>
        <p:spPr>
          <a:xfrm>
            <a:off x="6350139" y="2727920"/>
            <a:ext cx="5140196" cy="158620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Предсказуемость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понятные сроки и результаты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Управляемость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контроль на каждом этапе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Качество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меньше ошибок, больше надёжности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Командная работа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чёткие роли и процессы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Повторное использование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накопление опыта</a:t>
            </a:r>
            <a:endParaRPr sz="1300"/>
          </a:p>
        </p:txBody>
      </p:sp>
      <p:sp>
        <p:nvSpPr>
          <p:cNvPr id="228" name="Shape 228"/>
          <p:cNvSpPr/>
          <p:nvPr/>
        </p:nvSpPr>
        <p:spPr>
          <a:xfrm>
            <a:off x="661475" y="4558010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FFD8CC"/>
          </a:solidFill>
          <a:ln>
            <a:prstDash val="solid"/>
          </a:ln>
        </p:spPr>
      </p:sp>
      <p:pic>
        <p:nvPicPr>
          <p:cNvPr id="230" name="Picture 230"/>
          <p:cNvPicPr/>
          <p:nvPr/>
        </p:nvPicPr>
        <p:blipFill>
          <a:blip r:embed="rId2"/>
          <a:stretch/>
        </p:blipFill>
        <p:spPr>
          <a:xfrm>
            <a:off x="826769" y="4797723"/>
            <a:ext cx="206666" cy="165298"/>
          </a:xfrm>
          <a:prstGeom prst="rect">
            <a:avLst/>
          </a:prstGeom>
        </p:spPr>
      </p:pic>
      <p:sp>
        <p:nvSpPr>
          <p:cNvPr id="231" name="Shape 231"/>
          <p:cNvSpPr/>
          <p:nvPr/>
        </p:nvSpPr>
        <p:spPr>
          <a:xfrm>
            <a:off x="1198731" y="4764584"/>
            <a:ext cx="10166195" cy="52923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Технология существует на четырёх уровнях: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личный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(как разработчик пишет код),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командный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(взаимодействие команды),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организационный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(управление проектами в компании) и </a:t>
            </a:r>
            <a:r>
              <a:rPr sz="1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отраслевой</a:t>
            </a:r>
            <a:r>
              <a:rPr sz="1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(стандарты ГОСТ, ISO).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2" name="Shape 232"/>
          <p:cNvSpPr/>
          <p:nvPr/>
        </p:nvSpPr>
        <p:spPr>
          <a:xfrm>
            <a:off x="-11880" y="1947414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233" name="Shape 233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35" name="Picture 235"/>
          <p:cNvPicPr/>
          <p:nvPr/>
        </p:nvPicPr>
        <p:blipFill>
          <a:blip r:embed="rId3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/>
        </p:nvSpPr>
        <p:spPr>
          <a:xfrm>
            <a:off x="661475" y="511175"/>
            <a:ext cx="10868745" cy="42792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26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Жизненный цикл программного продукта</a:t>
            </a:r>
            <a:endParaRPr sz="2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8" name="Shape 238"/>
          <p:cNvSpPr/>
          <p:nvPr/>
        </p:nvSpPr>
        <p:spPr>
          <a:xfrm>
            <a:off x="661475" y="1165920"/>
            <a:ext cx="10868745" cy="40044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2000"/>
              </a:lnSpc>
            </a:pPr>
            <a:r>
              <a:rPr sz="105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Жизненный цикл ПО (ЖЦ ПО)</a:t>
            </a: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это период времени от момента появления идеи о создании программного продукта до момента его полного вывода из эксплуатации.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9" name="Shape 239"/>
          <p:cNvSpPr/>
          <p:nvPr/>
        </p:nvSpPr>
        <p:spPr>
          <a:xfrm>
            <a:off x="661475" y="1693961"/>
            <a:ext cx="10868745" cy="684311"/>
          </a:xfrm>
          <a:prstGeom prst="roundRect">
            <a:avLst>
              <a:gd name="adj" fmla="val 8406"/>
            </a:avLst>
          </a:prstGeom>
          <a:solidFill>
            <a:srgbClr val="B6D6FC"/>
          </a:solidFill>
          <a:ln>
            <a:prstDash val="solid"/>
          </a:ln>
        </p:spPr>
      </p:sp>
      <p:pic>
        <p:nvPicPr>
          <p:cNvPr id="241" name="Picture 241"/>
          <p:cNvPicPr/>
          <p:nvPr/>
        </p:nvPicPr>
        <p:blipFill>
          <a:blip r:embed="rId2"/>
          <a:stretch/>
        </p:blipFill>
        <p:spPr>
          <a:xfrm>
            <a:off x="798393" y="1855093"/>
            <a:ext cx="171148" cy="136922"/>
          </a:xfrm>
          <a:prstGeom prst="rect">
            <a:avLst/>
          </a:prstGeom>
        </p:spPr>
      </p:pic>
      <p:sp>
        <p:nvSpPr>
          <p:cNvPr id="242" name="Shape 242"/>
          <p:cNvSpPr/>
          <p:nvPr/>
        </p:nvSpPr>
        <p:spPr>
          <a:xfrm>
            <a:off x="1106460" y="1841599"/>
            <a:ext cx="10286842" cy="40044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2000"/>
              </a:lnSpc>
            </a:pPr>
            <a:r>
              <a:rPr sz="10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Важно:</a:t>
            </a:r>
            <a:r>
              <a:rPr sz="10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Жизненный цикл — это не то же самое, что «разработка». Разработка — лишь одна из частей жизненного цикла. ЖЦ охватывает всё: от первой идеи до последнего дня использования программы.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44" name="Picture 244"/>
          <p:cNvPicPr/>
          <p:nvPr/>
        </p:nvPicPr>
        <p:blipFill>
          <a:blip r:embed="rId3"/>
          <a:stretch/>
        </p:blipFill>
        <p:spPr>
          <a:xfrm>
            <a:off x="661475" y="2505869"/>
            <a:ext cx="3622882" cy="547786"/>
          </a:xfrm>
          <a:prstGeom prst="rect">
            <a:avLst/>
          </a:prstGeom>
        </p:spPr>
      </p:pic>
      <p:sp>
        <p:nvSpPr>
          <p:cNvPr id="245" name="Shape 245"/>
          <p:cNvSpPr/>
          <p:nvPr/>
        </p:nvSpPr>
        <p:spPr>
          <a:xfrm>
            <a:off x="798393" y="3167063"/>
            <a:ext cx="3349045" cy="21401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Анализ требований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798393" y="3449042"/>
            <a:ext cx="3349045" cy="200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</a:pP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Что должна делать программа?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48" name="Picture 248"/>
          <p:cNvPicPr/>
          <p:nvPr/>
        </p:nvPicPr>
        <p:blipFill>
          <a:blip r:embed="rId4"/>
          <a:stretch/>
        </p:blipFill>
        <p:spPr>
          <a:xfrm>
            <a:off x="4284357" y="2505869"/>
            <a:ext cx="3622882" cy="547786"/>
          </a:xfrm>
          <a:prstGeom prst="rect">
            <a:avLst/>
          </a:prstGeom>
        </p:spPr>
      </p:pic>
      <p:sp>
        <p:nvSpPr>
          <p:cNvPr id="249" name="Shape 249"/>
          <p:cNvSpPr/>
          <p:nvPr/>
        </p:nvSpPr>
        <p:spPr>
          <a:xfrm>
            <a:off x="4421275" y="3167063"/>
            <a:ext cx="3349045" cy="21401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Проектирование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0" name="Shape 250"/>
          <p:cNvSpPr/>
          <p:nvPr/>
        </p:nvSpPr>
        <p:spPr>
          <a:xfrm>
            <a:off x="4421275" y="3449042"/>
            <a:ext cx="3349045" cy="200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</a:pP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Архитектура и модули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52" name="Picture 252"/>
          <p:cNvPicPr/>
          <p:nvPr/>
        </p:nvPicPr>
        <p:blipFill>
          <a:blip r:embed="rId5"/>
          <a:stretch/>
        </p:blipFill>
        <p:spPr>
          <a:xfrm>
            <a:off x="7907239" y="2505869"/>
            <a:ext cx="3622882" cy="547786"/>
          </a:xfrm>
          <a:prstGeom prst="rect">
            <a:avLst/>
          </a:prstGeom>
        </p:spPr>
      </p:pic>
      <p:sp>
        <p:nvSpPr>
          <p:cNvPr id="253" name="Shape 253"/>
          <p:cNvSpPr/>
          <p:nvPr/>
        </p:nvSpPr>
        <p:spPr>
          <a:xfrm>
            <a:off x="8044157" y="3167063"/>
            <a:ext cx="3349045" cy="21401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Разработка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4" name="Shape 254"/>
          <p:cNvSpPr/>
          <p:nvPr/>
        </p:nvSpPr>
        <p:spPr>
          <a:xfrm>
            <a:off x="8044157" y="3449042"/>
            <a:ext cx="3349045" cy="200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</a:pP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Написание кода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56" name="Picture 256"/>
          <p:cNvPicPr/>
          <p:nvPr/>
        </p:nvPicPr>
        <p:blipFill>
          <a:blip r:embed="rId6"/>
          <a:stretch/>
        </p:blipFill>
        <p:spPr>
          <a:xfrm>
            <a:off x="661475" y="3786188"/>
            <a:ext cx="3622882" cy="547787"/>
          </a:xfrm>
          <a:prstGeom prst="rect">
            <a:avLst/>
          </a:prstGeom>
        </p:spPr>
      </p:pic>
      <p:sp>
        <p:nvSpPr>
          <p:cNvPr id="257" name="Shape 257"/>
          <p:cNvSpPr/>
          <p:nvPr/>
        </p:nvSpPr>
        <p:spPr>
          <a:xfrm>
            <a:off x="798393" y="4447381"/>
            <a:ext cx="3349045" cy="21401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Тестирование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8" name="Shape 258"/>
          <p:cNvSpPr/>
          <p:nvPr/>
        </p:nvSpPr>
        <p:spPr>
          <a:xfrm>
            <a:off x="798393" y="4729361"/>
            <a:ext cx="3349045" cy="200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</a:pP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Проверка работы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60" name="Picture 260"/>
          <p:cNvPicPr/>
          <p:nvPr/>
        </p:nvPicPr>
        <p:blipFill>
          <a:blip r:embed="rId7"/>
          <a:stretch/>
        </p:blipFill>
        <p:spPr>
          <a:xfrm>
            <a:off x="4284357" y="3786188"/>
            <a:ext cx="3622882" cy="547787"/>
          </a:xfrm>
          <a:prstGeom prst="rect">
            <a:avLst/>
          </a:prstGeom>
        </p:spPr>
      </p:pic>
      <p:sp>
        <p:nvSpPr>
          <p:cNvPr id="261" name="Shape 261"/>
          <p:cNvSpPr/>
          <p:nvPr/>
        </p:nvSpPr>
        <p:spPr>
          <a:xfrm>
            <a:off x="4421275" y="4447381"/>
            <a:ext cx="3349045" cy="21401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Внедрение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2" name="Shape 262"/>
          <p:cNvSpPr/>
          <p:nvPr/>
        </p:nvSpPr>
        <p:spPr>
          <a:xfrm>
            <a:off x="4421275" y="4729361"/>
            <a:ext cx="3349045" cy="200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</a:pP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Установка у заказчика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64" name="Picture 264"/>
          <p:cNvPicPr/>
          <p:nvPr/>
        </p:nvPicPr>
        <p:blipFill>
          <a:blip r:embed="rId8"/>
          <a:stretch/>
        </p:blipFill>
        <p:spPr>
          <a:xfrm>
            <a:off x="7907239" y="3786188"/>
            <a:ext cx="3622882" cy="547787"/>
          </a:xfrm>
          <a:prstGeom prst="rect">
            <a:avLst/>
          </a:prstGeom>
        </p:spPr>
      </p:pic>
      <p:sp>
        <p:nvSpPr>
          <p:cNvPr id="265" name="Shape 265"/>
          <p:cNvSpPr/>
          <p:nvPr/>
        </p:nvSpPr>
        <p:spPr>
          <a:xfrm>
            <a:off x="8044157" y="4447381"/>
            <a:ext cx="3349045" cy="21401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Сопровождение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" name="Shape 266"/>
          <p:cNvSpPr/>
          <p:nvPr/>
        </p:nvSpPr>
        <p:spPr>
          <a:xfrm>
            <a:off x="8044157" y="4729361"/>
            <a:ext cx="3349045" cy="200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</a:pP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Исправления и обновления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68" name="Picture 268"/>
          <p:cNvPicPr/>
          <p:nvPr/>
        </p:nvPicPr>
        <p:blipFill>
          <a:blip r:embed="rId9"/>
          <a:stretch/>
        </p:blipFill>
        <p:spPr>
          <a:xfrm>
            <a:off x="661475" y="5066506"/>
            <a:ext cx="3622882" cy="547787"/>
          </a:xfrm>
          <a:prstGeom prst="rect">
            <a:avLst/>
          </a:prstGeom>
        </p:spPr>
      </p:pic>
      <p:sp>
        <p:nvSpPr>
          <p:cNvPr id="269" name="Shape 269"/>
          <p:cNvSpPr/>
          <p:nvPr/>
        </p:nvSpPr>
        <p:spPr>
          <a:xfrm>
            <a:off x="798393" y="5727700"/>
            <a:ext cx="3349045" cy="21401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Вывод из эксплуатации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0" name="Shape 270"/>
          <p:cNvSpPr/>
          <p:nvPr/>
        </p:nvSpPr>
        <p:spPr>
          <a:xfrm>
            <a:off x="798393" y="6009680"/>
            <a:ext cx="3349045" cy="200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</a:pPr>
            <a:r>
              <a:rPr sz="10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Архивирование и закрытие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1" name="Shape 271"/>
          <p:cNvSpPr/>
          <p:nvPr/>
        </p:nvSpPr>
        <p:spPr>
          <a:xfrm>
            <a:off x="-11880" y="1010976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272" name="Shape 272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74" name="Picture 274"/>
          <p:cNvPicPr/>
          <p:nvPr/>
        </p:nvPicPr>
        <p:blipFill>
          <a:blip r:embed="rId10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/>
          <p:nvPr/>
        </p:nvSpPr>
        <p:spPr>
          <a:xfrm>
            <a:off x="661475" y="1732459"/>
            <a:ext cx="10868745" cy="51673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Этапы ЖЦ: от анализа до разработки</a:t>
            </a:r>
            <a:endParaRPr sz="3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78" name="Picture 27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475" y="2579886"/>
            <a:ext cx="3512653" cy="2545556"/>
          </a:xfrm>
          <a:prstGeom prst="rect">
            <a:avLst/>
          </a:prstGeom>
        </p:spPr>
      </p:pic>
      <p:sp>
        <p:nvSpPr>
          <p:cNvPr id="279" name="Shape 279"/>
          <p:cNvSpPr/>
          <p:nvPr/>
        </p:nvSpPr>
        <p:spPr>
          <a:xfrm>
            <a:off x="2293781" y="2688729"/>
            <a:ext cx="248041" cy="31005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</a:pPr>
            <a:r>
              <a:rPr sz="19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1</a:t>
            </a:r>
            <a:endParaRPr sz="1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0" name="Shape 280"/>
          <p:cNvSpPr/>
          <p:nvPr/>
        </p:nvSpPr>
        <p:spPr>
          <a:xfrm>
            <a:off x="845819" y="3260328"/>
            <a:ext cx="3143965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Анализ требований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1" name="Shape 281"/>
          <p:cNvSpPr/>
          <p:nvPr/>
        </p:nvSpPr>
        <p:spPr>
          <a:xfrm>
            <a:off x="845819" y="3618012"/>
            <a:ext cx="3143965" cy="132308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Встречи с заказчиком, сбор и документирование требований, составление технического задания. </a:t>
            </a: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Артефакты: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ТЗ, спецификация требований.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83" name="Picture 28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339422" y="2579886"/>
            <a:ext cx="3512751" cy="2545556"/>
          </a:xfrm>
          <a:prstGeom prst="rect">
            <a:avLst/>
          </a:prstGeom>
        </p:spPr>
      </p:pic>
      <p:sp>
        <p:nvSpPr>
          <p:cNvPr id="284" name="Shape 284"/>
          <p:cNvSpPr/>
          <p:nvPr/>
        </p:nvSpPr>
        <p:spPr>
          <a:xfrm>
            <a:off x="5971728" y="2688729"/>
            <a:ext cx="248041" cy="31005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</a:pPr>
            <a:r>
              <a:rPr sz="19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2</a:t>
            </a:r>
            <a:endParaRPr sz="1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5" name="Shape 285"/>
          <p:cNvSpPr/>
          <p:nvPr/>
        </p:nvSpPr>
        <p:spPr>
          <a:xfrm>
            <a:off x="4523766" y="3260328"/>
            <a:ext cx="3144063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Проектирование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6" name="Shape 286"/>
          <p:cNvSpPr/>
          <p:nvPr/>
        </p:nvSpPr>
        <p:spPr>
          <a:xfrm>
            <a:off x="4523766" y="3618012"/>
            <a:ext cx="3144063" cy="132308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Разработка архитектуры, проектирование модулей, интерфейсов и базы данных. </a:t>
            </a: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Артефакты: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архитектурная документация, UML-диаграммы.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88" name="Picture 28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017468" y="2579886"/>
            <a:ext cx="3512653" cy="2545556"/>
          </a:xfrm>
          <a:prstGeom prst="rect">
            <a:avLst/>
          </a:prstGeom>
        </p:spPr>
      </p:pic>
      <p:sp>
        <p:nvSpPr>
          <p:cNvPr id="289" name="Shape 289"/>
          <p:cNvSpPr/>
          <p:nvPr/>
        </p:nvSpPr>
        <p:spPr>
          <a:xfrm>
            <a:off x="9649774" y="2688729"/>
            <a:ext cx="248040" cy="31005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</a:pPr>
            <a:r>
              <a:rPr sz="19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3</a:t>
            </a:r>
            <a:endParaRPr sz="1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0" name="Shape 290"/>
          <p:cNvSpPr/>
          <p:nvPr/>
        </p:nvSpPr>
        <p:spPr>
          <a:xfrm>
            <a:off x="8201812" y="3260328"/>
            <a:ext cx="3143965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Разработка (кодирование)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1" name="Shape 291"/>
          <p:cNvSpPr/>
          <p:nvPr/>
        </p:nvSpPr>
        <p:spPr>
          <a:xfrm>
            <a:off x="8201812" y="3618012"/>
            <a:ext cx="3143965" cy="105846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Написание кода, работа с системами контроля версий, Code Review. </a:t>
            </a: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Артефакты: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исходный код, комментарии, документация.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2" name="Shape 292"/>
          <p:cNvSpPr/>
          <p:nvPr/>
        </p:nvSpPr>
        <p:spPr>
          <a:xfrm>
            <a:off x="-11880" y="2299958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293" name="Shape 293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95" name="Picture 295"/>
          <p:cNvPicPr/>
          <p:nvPr/>
        </p:nvPicPr>
        <p:blipFill>
          <a:blip r:embed="rId3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/>
        </p:nvSpPr>
        <p:spPr>
          <a:xfrm>
            <a:off x="661475" y="1038622"/>
            <a:ext cx="10868745" cy="51673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Этапы ЖЦ: от тестирования до вывода</a:t>
            </a:r>
            <a:endParaRPr sz="3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99" name="Picture 29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475" y="1886049"/>
            <a:ext cx="5351725" cy="2016322"/>
          </a:xfrm>
          <a:prstGeom prst="rect">
            <a:avLst/>
          </a:prstGeom>
        </p:spPr>
      </p:pic>
      <p:sp>
        <p:nvSpPr>
          <p:cNvPr id="300" name="Shape 300"/>
          <p:cNvSpPr/>
          <p:nvPr/>
        </p:nvSpPr>
        <p:spPr>
          <a:xfrm>
            <a:off x="3213317" y="1994892"/>
            <a:ext cx="248041" cy="31005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</a:pPr>
            <a:r>
              <a:rPr sz="19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4</a:t>
            </a:r>
            <a:endParaRPr sz="1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1" name="Shape 301"/>
          <p:cNvSpPr/>
          <p:nvPr/>
        </p:nvSpPr>
        <p:spPr>
          <a:xfrm>
            <a:off x="845819" y="2566491"/>
            <a:ext cx="4983038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Тестирование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2" name="Shape 302"/>
          <p:cNvSpPr/>
          <p:nvPr/>
        </p:nvSpPr>
        <p:spPr>
          <a:xfrm>
            <a:off x="845819" y="2924175"/>
            <a:ext cx="4983038" cy="79384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Модульное, интеграционное, системное тестирование. Поиск и исправление ошибок. </a:t>
            </a: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Артефакты: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тест-кейсы, баг-репорты, отчёты.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04" name="Picture 30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178495" y="1886049"/>
            <a:ext cx="5351725" cy="2016322"/>
          </a:xfrm>
          <a:prstGeom prst="rect">
            <a:avLst/>
          </a:prstGeom>
        </p:spPr>
      </p:pic>
      <p:sp>
        <p:nvSpPr>
          <p:cNvPr id="305" name="Shape 305"/>
          <p:cNvSpPr/>
          <p:nvPr/>
        </p:nvSpPr>
        <p:spPr>
          <a:xfrm>
            <a:off x="8730337" y="1994892"/>
            <a:ext cx="248040" cy="31005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</a:pPr>
            <a:r>
              <a:rPr sz="19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5</a:t>
            </a:r>
            <a:endParaRPr sz="1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6" name="Shape 306"/>
          <p:cNvSpPr/>
          <p:nvPr/>
        </p:nvSpPr>
        <p:spPr>
          <a:xfrm>
            <a:off x="6362838" y="2566491"/>
            <a:ext cx="4983038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Внедрение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7" name="Shape 307"/>
          <p:cNvSpPr/>
          <p:nvPr/>
        </p:nvSpPr>
        <p:spPr>
          <a:xfrm>
            <a:off x="6362838" y="2924175"/>
            <a:ext cx="4983038" cy="79384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Установка у заказчика, обучение пользователей, миграция данных. </a:t>
            </a: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Артефакты: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руководство пользователя, инструкция по установке.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09" name="Picture 30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1475" y="4067671"/>
            <a:ext cx="5351725" cy="1751707"/>
          </a:xfrm>
          <a:prstGeom prst="rect">
            <a:avLst/>
          </a:prstGeom>
        </p:spPr>
      </p:pic>
      <p:sp>
        <p:nvSpPr>
          <p:cNvPr id="310" name="Shape 310"/>
          <p:cNvSpPr/>
          <p:nvPr/>
        </p:nvSpPr>
        <p:spPr>
          <a:xfrm>
            <a:off x="3213317" y="4176514"/>
            <a:ext cx="248041" cy="31005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</a:pPr>
            <a:r>
              <a:rPr sz="19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6</a:t>
            </a:r>
            <a:endParaRPr sz="1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1" name="Shape 311"/>
          <p:cNvSpPr/>
          <p:nvPr/>
        </p:nvSpPr>
        <p:spPr>
          <a:xfrm>
            <a:off x="845819" y="4748113"/>
            <a:ext cx="4983038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Сопровождение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2" name="Shape 312"/>
          <p:cNvSpPr/>
          <p:nvPr/>
        </p:nvSpPr>
        <p:spPr>
          <a:xfrm>
            <a:off x="845819" y="5105797"/>
            <a:ext cx="4983038" cy="5292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Исправление ошибок, обновление, доработка, техническая поддержка. </a:t>
            </a: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Артефакты: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обновления, патчи, отчёты.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14" name="Picture 3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176646" y="4067671"/>
            <a:ext cx="5351725" cy="1751707"/>
          </a:xfrm>
          <a:prstGeom prst="rect">
            <a:avLst/>
          </a:prstGeom>
        </p:spPr>
      </p:pic>
      <p:sp>
        <p:nvSpPr>
          <p:cNvPr id="315" name="Shape 315"/>
          <p:cNvSpPr/>
          <p:nvPr/>
        </p:nvSpPr>
        <p:spPr>
          <a:xfrm>
            <a:off x="8730337" y="4176514"/>
            <a:ext cx="248040" cy="31005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</a:pPr>
            <a:r>
              <a:rPr sz="19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7</a:t>
            </a:r>
            <a:endParaRPr sz="1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6" name="Shape 316"/>
          <p:cNvSpPr/>
          <p:nvPr/>
        </p:nvSpPr>
        <p:spPr>
          <a:xfrm>
            <a:off x="6362838" y="4748113"/>
            <a:ext cx="4983038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Вывод из эксплуатации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7" name="Shape 317"/>
          <p:cNvSpPr/>
          <p:nvPr/>
        </p:nvSpPr>
        <p:spPr>
          <a:xfrm>
            <a:off x="6362838" y="5105797"/>
            <a:ext cx="4983038" cy="5292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Отказ от использования, архивирование данных. </a:t>
            </a: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Артефакты: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акт о выводе, архив.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8" name="Shape 318"/>
          <p:cNvSpPr/>
          <p:nvPr/>
        </p:nvSpPr>
        <p:spPr>
          <a:xfrm>
            <a:off x="-11880" y="1638938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19" name="Shape 319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21" name="Picture 321"/>
          <p:cNvPicPr/>
          <p:nvPr/>
        </p:nvPicPr>
        <p:blipFill>
          <a:blip r:embed="rId4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/>
        </p:nvSpPr>
        <p:spPr>
          <a:xfrm>
            <a:off x="661475" y="495895"/>
            <a:ext cx="10868745" cy="50869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Связь технологии и жизненного цикла</a:t>
            </a:r>
            <a:endParaRPr sz="3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Shape 324"/>
          <p:cNvSpPr/>
          <p:nvPr/>
        </p:nvSpPr>
        <p:spPr>
          <a:xfrm>
            <a:off x="661475" y="1325066"/>
            <a:ext cx="10868745" cy="51693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2000"/>
              </a:lnSpc>
            </a:pPr>
            <a:r>
              <a:rPr sz="12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Технология определяет, </a:t>
            </a:r>
            <a:r>
              <a:rPr sz="125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как именно</a:t>
            </a:r>
            <a:r>
              <a:rPr sz="125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проходят этапы жизненного цикла. Каждый этап ЖЦ опирается на конкретные методы, инструменты и стандарты, которые задаёт выбранная технология разработки.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25" name="Table 325"/>
          <p:cNvGraphicFramePr/>
          <p:nvPr/>
        </p:nvGraphicFramePr>
        <p:xfrm>
          <a:off x="661475" y="2022277"/>
          <a:ext cx="10868746" cy="3244073"/>
        </p:xfrm>
        <a:graphic>
          <a:graphicData uri="http://schemas.openxmlformats.org/drawingml/2006/table">
            <a:tbl>
              <a:tblPr/>
              <a:tblGrid>
                <a:gridCol w="3260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439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Этап ЖЦ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Что определяет технология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439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Анализ требований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Методы сбора: интервью, опросы, User Stories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439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Проектирование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Нотации (UML, ERD), принципы (SOLID)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39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Разработка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Стандарты кода, инструменты (Git, IDE)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439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Тестирование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Виды и методы тестирования, инструменты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439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Внедрение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Способы развёртывания (CI/CD, Docker)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439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Сопровождение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Системы баг-трекинга, мониторинг</a:t>
                      </a:r>
                      <a:endParaRPr sz="12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2807" marR="162807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6" name="Shape 326"/>
          <p:cNvSpPr/>
          <p:nvPr/>
        </p:nvSpPr>
        <p:spPr>
          <a:xfrm>
            <a:off x="661475" y="5459413"/>
            <a:ext cx="10868745" cy="902691"/>
          </a:xfrm>
          <a:prstGeom prst="roundRect">
            <a:avLst>
              <a:gd name="adj" fmla="val 7575"/>
            </a:avLst>
          </a:prstGeom>
          <a:solidFill>
            <a:srgbClr val="FFD8CC"/>
          </a:solidFill>
          <a:ln>
            <a:prstDash val="solid"/>
          </a:ln>
        </p:spPr>
      </p:sp>
      <p:pic>
        <p:nvPicPr>
          <p:cNvPr id="328" name="Picture 328"/>
          <p:cNvPicPr/>
          <p:nvPr/>
        </p:nvPicPr>
        <p:blipFill>
          <a:blip r:embed="rId2"/>
          <a:stretch/>
        </p:blipFill>
        <p:spPr>
          <a:xfrm>
            <a:off x="824190" y="5689402"/>
            <a:ext cx="203493" cy="162719"/>
          </a:xfrm>
          <a:prstGeom prst="rect">
            <a:avLst/>
          </a:prstGeom>
        </p:spPr>
      </p:pic>
      <p:sp>
        <p:nvSpPr>
          <p:cNvPr id="329" name="Shape 329"/>
          <p:cNvSpPr/>
          <p:nvPr/>
        </p:nvSpPr>
        <p:spPr>
          <a:xfrm>
            <a:off x="1190397" y="5660330"/>
            <a:ext cx="10177109" cy="51693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2000"/>
              </a:lnSpc>
            </a:pPr>
            <a:r>
              <a:rPr sz="12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Ключевая мысль:</a:t>
            </a:r>
            <a:r>
              <a:rPr sz="12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Модель ЖЦ определяет, </a:t>
            </a:r>
            <a:r>
              <a:rPr sz="1250" i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в каком порядке</a:t>
            </a:r>
            <a:r>
              <a:rPr sz="12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идут этапы, а технология определяет, </a:t>
            </a:r>
            <a:r>
              <a:rPr sz="1250" i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как именно</a:t>
            </a:r>
            <a:r>
              <a:rPr sz="12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каждый этап выполняется.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0" name="Shape 330"/>
          <p:cNvSpPr/>
          <p:nvPr/>
        </p:nvSpPr>
        <p:spPr>
          <a:xfrm>
            <a:off x="-11880" y="1088090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31" name="Shape 331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33" name="Picture 333"/>
          <p:cNvPicPr/>
          <p:nvPr/>
        </p:nvPicPr>
        <p:blipFill>
          <a:blip r:embed="rId3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/>
          <p:nvPr/>
        </p:nvSpPr>
        <p:spPr>
          <a:xfrm>
            <a:off x="661475" y="1112044"/>
            <a:ext cx="10868745" cy="51673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32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Модели и стандарты жизненного цикла</a:t>
            </a:r>
            <a:endParaRPr sz="3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6" name="Shape 336"/>
          <p:cNvSpPr/>
          <p:nvPr/>
        </p:nvSpPr>
        <p:spPr>
          <a:xfrm>
            <a:off x="661475" y="2042119"/>
            <a:ext cx="5232666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Основные модели ЖЦ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38" name="Picture 33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475" y="2486620"/>
            <a:ext cx="2533686" cy="1586309"/>
          </a:xfrm>
          <a:prstGeom prst="rect">
            <a:avLst/>
          </a:prstGeom>
        </p:spPr>
      </p:pic>
      <p:sp>
        <p:nvSpPr>
          <p:cNvPr id="339" name="Shape 339"/>
          <p:cNvSpPr/>
          <p:nvPr/>
        </p:nvSpPr>
        <p:spPr>
          <a:xfrm>
            <a:off x="922017" y="2670969"/>
            <a:ext cx="2088800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Каскадная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0" name="Shape 340"/>
          <p:cNvSpPr/>
          <p:nvPr/>
        </p:nvSpPr>
        <p:spPr>
          <a:xfrm>
            <a:off x="922017" y="3094732"/>
            <a:ext cx="2088800" cy="79384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Этапы строго последовательно, без возврата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42" name="Picture 34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360455" y="2486620"/>
            <a:ext cx="2533686" cy="1586309"/>
          </a:xfrm>
          <a:prstGeom prst="rect">
            <a:avLst/>
          </a:prstGeom>
        </p:spPr>
      </p:pic>
      <p:sp>
        <p:nvSpPr>
          <p:cNvPr id="343" name="Shape 343"/>
          <p:cNvSpPr/>
          <p:nvPr/>
        </p:nvSpPr>
        <p:spPr>
          <a:xfrm>
            <a:off x="3620996" y="2670969"/>
            <a:ext cx="2088800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Инкрементная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4" name="Shape 344"/>
          <p:cNvSpPr/>
          <p:nvPr/>
        </p:nvSpPr>
        <p:spPr>
          <a:xfrm>
            <a:off x="3620996" y="3094732"/>
            <a:ext cx="2088800" cy="5292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Проект разбит на части — инкременты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46" name="Picture 34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1475" y="4238228"/>
            <a:ext cx="2533686" cy="1321693"/>
          </a:xfrm>
          <a:prstGeom prst="rect">
            <a:avLst/>
          </a:prstGeom>
        </p:spPr>
      </p:pic>
      <p:sp>
        <p:nvSpPr>
          <p:cNvPr id="347" name="Shape 347"/>
          <p:cNvSpPr/>
          <p:nvPr/>
        </p:nvSpPr>
        <p:spPr>
          <a:xfrm>
            <a:off x="922017" y="4422577"/>
            <a:ext cx="2088800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Спиральная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8" name="Shape 348"/>
          <p:cNvSpPr/>
          <p:nvPr/>
        </p:nvSpPr>
        <p:spPr>
          <a:xfrm>
            <a:off x="922017" y="4846340"/>
            <a:ext cx="2088800" cy="5292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Каждый виток — полный цикл + анализ рисков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50" name="Picture 35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360455" y="4238228"/>
            <a:ext cx="2533686" cy="1321693"/>
          </a:xfrm>
          <a:prstGeom prst="rect">
            <a:avLst/>
          </a:prstGeom>
        </p:spPr>
      </p:pic>
      <p:sp>
        <p:nvSpPr>
          <p:cNvPr id="351" name="Shape 351"/>
          <p:cNvSpPr/>
          <p:nvPr/>
        </p:nvSpPr>
        <p:spPr>
          <a:xfrm>
            <a:off x="3620996" y="4422577"/>
            <a:ext cx="2088800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Итеративная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2" name="Shape 352"/>
          <p:cNvSpPr/>
          <p:nvPr/>
        </p:nvSpPr>
        <p:spPr>
          <a:xfrm>
            <a:off x="3620996" y="4846340"/>
            <a:ext cx="2088800" cy="5292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Повторяющиеся циклы улучшения продукта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3" name="Shape 353"/>
          <p:cNvSpPr/>
          <p:nvPr/>
        </p:nvSpPr>
        <p:spPr>
          <a:xfrm>
            <a:off x="6303904" y="2042119"/>
            <a:ext cx="5232666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6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Стандарты ЖЦ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4" name="Shape 354"/>
          <p:cNvSpPr/>
          <p:nvPr/>
        </p:nvSpPr>
        <p:spPr>
          <a:xfrm>
            <a:off x="6303904" y="2465884"/>
            <a:ext cx="5232666" cy="202584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ГОСТ 19.102-77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стадии разработки программ (ТЗ → эскизный проект → технический проект → рабочая документация → внедрение → сопровождение)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ГОСТ 34.601-90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стадии создания автоматизированных систем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ISO/IEC 12207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процессы жизненного цикла ПО</a:t>
            </a:r>
            <a:endParaRPr sz="130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sz="13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ISO/IEC 15504 (SPICE)</a:t>
            </a: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оценка процессов разработки</a:t>
            </a:r>
            <a:endParaRPr sz="1300"/>
          </a:p>
        </p:txBody>
      </p:sp>
      <p:sp>
        <p:nvSpPr>
          <p:cNvPr id="355" name="Shape 355"/>
          <p:cNvSpPr/>
          <p:nvPr/>
        </p:nvSpPr>
        <p:spPr>
          <a:xfrm>
            <a:off x="6303904" y="4640560"/>
            <a:ext cx="5842251" cy="26461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</a:pPr>
            <a:r>
              <a:rPr sz="13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Подробнее о моделях ЖЦ — в отдельной лекции.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6" name="Shape 356"/>
          <p:cNvSpPr/>
          <p:nvPr/>
        </p:nvSpPr>
        <p:spPr>
          <a:xfrm>
            <a:off x="-11880" y="170503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57" name="Shape 357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59" name="Picture 359"/>
          <p:cNvPicPr/>
          <p:nvPr/>
        </p:nvPicPr>
        <p:blipFill>
          <a:blip r:embed="rId4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Picture 362"/>
          <p:cNvPicPr/>
          <p:nvPr/>
        </p:nvPicPr>
        <p:blipFill>
          <a:blip r:embed="rId2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63" name="Shape 363"/>
          <p:cNvSpPr/>
          <p:nvPr/>
        </p:nvSpPr>
        <p:spPr>
          <a:xfrm>
            <a:off x="661475" y="462656"/>
            <a:ext cx="6296860" cy="44410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Каскадная модель (Waterfall)</a:t>
            </a:r>
            <a:endParaRPr sz="27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Shape 364"/>
          <p:cNvSpPr/>
          <p:nvPr/>
        </p:nvSpPr>
        <p:spPr>
          <a:xfrm>
            <a:off x="661475" y="1089918"/>
            <a:ext cx="1409764" cy="215800"/>
          </a:xfrm>
          <a:prstGeom prst="roundRect">
            <a:avLst>
              <a:gd name="adj" fmla="val 22130"/>
            </a:avLst>
          </a:prstGeom>
          <a:solidFill>
            <a:srgbClr val="FFD8CC"/>
          </a:solidFill>
          <a:ln>
            <a:prstDash val="solid"/>
          </a:ln>
        </p:spPr>
      </p:sp>
      <p:sp>
        <p:nvSpPr>
          <p:cNvPr id="365" name="Shape 365"/>
          <p:cNvSpPr/>
          <p:nvPr/>
        </p:nvSpPr>
        <p:spPr>
          <a:xfrm>
            <a:off x="746702" y="1132483"/>
            <a:ext cx="1848894" cy="13067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1970 · УИНСТОН РОЙС</a:t>
            </a:r>
            <a:endParaRPr sz="8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Shape 366"/>
          <p:cNvSpPr/>
          <p:nvPr/>
        </p:nvSpPr>
        <p:spPr>
          <a:xfrm>
            <a:off x="661475" y="1443038"/>
            <a:ext cx="6296860" cy="63430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Этапы выполняются </a:t>
            </a:r>
            <a:r>
              <a:rPr sz="11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строго последовательно</a:t>
            </a: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. Переход к следующему этапу возможен только после полного завершения предыдущего. Возврат назад не предусмотрен — это главная особенность и главное ограничение модели.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68" name="Picture 36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1475" y="2214662"/>
            <a:ext cx="6296860" cy="1597620"/>
          </a:xfrm>
          <a:prstGeom prst="rect">
            <a:avLst/>
          </a:prstGeom>
        </p:spPr>
      </p:pic>
      <p:sp>
        <p:nvSpPr>
          <p:cNvPr id="369" name="Shape 369"/>
          <p:cNvSpPr/>
          <p:nvPr/>
        </p:nvSpPr>
        <p:spPr>
          <a:xfrm>
            <a:off x="898800" y="2375793"/>
            <a:ext cx="5898406" cy="2284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3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Преимущества</a:t>
            </a:r>
            <a:endParaRPr sz="13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Shape 370"/>
          <p:cNvSpPr/>
          <p:nvPr/>
        </p:nvSpPr>
        <p:spPr>
          <a:xfrm>
            <a:off x="898800" y="2677418"/>
            <a:ext cx="5898406" cy="9737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Простая и понятная структура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Чёткое планирование сроков и бюджета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Хорошо документирована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Подходит для проектов с фиксированными требованиями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72" name="Picture 37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1475" y="3934420"/>
            <a:ext cx="6296860" cy="1597619"/>
          </a:xfrm>
          <a:prstGeom prst="rect">
            <a:avLst/>
          </a:prstGeom>
        </p:spPr>
      </p:pic>
      <p:sp>
        <p:nvSpPr>
          <p:cNvPr id="373" name="Shape 373"/>
          <p:cNvSpPr/>
          <p:nvPr/>
        </p:nvSpPr>
        <p:spPr>
          <a:xfrm>
            <a:off x="898800" y="4095552"/>
            <a:ext cx="5898406" cy="2284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❌</a:t>
            </a:r>
            <a:r>
              <a:rPr sz="13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Недостатки</a:t>
            </a:r>
            <a:endParaRPr sz="13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4" name="Shape 374"/>
          <p:cNvSpPr/>
          <p:nvPr/>
        </p:nvSpPr>
        <p:spPr>
          <a:xfrm>
            <a:off x="898800" y="4397177"/>
            <a:ext cx="5898406" cy="97373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Нельзя вернуться на предыдущий этап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Тестирование — в самом конце, ошибки дорого исправлять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Заказчик видит результат только в конце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3520" marR="0" lvl="0" indent="-22352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1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Плохо работает при изменении требований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5" name="Shape 375"/>
          <p:cNvSpPr/>
          <p:nvPr/>
        </p:nvSpPr>
        <p:spPr>
          <a:xfrm>
            <a:off x="661475" y="5669359"/>
            <a:ext cx="6296860" cy="725884"/>
          </a:xfrm>
          <a:prstGeom prst="roundRect">
            <a:avLst>
              <a:gd name="adj" fmla="val 8224"/>
            </a:avLst>
          </a:prstGeom>
          <a:solidFill>
            <a:srgbClr val="FFD8CC"/>
          </a:solidFill>
          <a:ln>
            <a:prstDash val="solid"/>
          </a:ln>
        </p:spPr>
      </p:sp>
      <p:pic>
        <p:nvPicPr>
          <p:cNvPr id="377" name="Picture 377"/>
          <p:cNvPicPr/>
          <p:nvPr/>
        </p:nvPicPr>
        <p:blipFill>
          <a:blip r:embed="rId4"/>
          <a:stretch/>
        </p:blipFill>
        <p:spPr>
          <a:xfrm>
            <a:off x="803553" y="5848747"/>
            <a:ext cx="177597" cy="142080"/>
          </a:xfrm>
          <a:prstGeom prst="rect">
            <a:avLst/>
          </a:prstGeom>
        </p:spPr>
      </p:pic>
      <p:sp>
        <p:nvSpPr>
          <p:cNvPr id="378" name="Shape 378"/>
          <p:cNvSpPr/>
          <p:nvPr/>
        </p:nvSpPr>
        <p:spPr>
          <a:xfrm>
            <a:off x="1123227" y="5827018"/>
            <a:ext cx="5693029" cy="42286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 strike="noStrike" cap="none" spc="0" baseline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Когда применять:</a:t>
            </a:r>
            <a:r>
              <a:rPr sz="11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Государственные и оборонные заказы, небольшие проекты с понятной задачей, проекты с фиксированными требованиями.</a:t>
            </a:r>
            <a:endParaRPr sz="11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9" name="Shape 379"/>
          <p:cNvSpPr/>
          <p:nvPr/>
        </p:nvSpPr>
        <p:spPr>
          <a:xfrm>
            <a:off x="-11880" y="90080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pic>
        <p:nvPicPr>
          <p:cNvPr id="381" name="Picture 381"/>
          <p:cNvPicPr/>
          <p:nvPr/>
        </p:nvPicPr>
        <p:blipFill>
          <a:blip r:embed="rId5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/>
          <p:nvPr/>
        </p:nvSpPr>
        <p:spPr>
          <a:xfrm>
            <a:off x="661475" y="607814"/>
            <a:ext cx="10868745" cy="51673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Инкрементная модель (Incremental)</a:t>
            </a:r>
            <a:endParaRPr sz="3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4" name="Shape 384"/>
          <p:cNvSpPr/>
          <p:nvPr/>
        </p:nvSpPr>
        <p:spPr>
          <a:xfrm>
            <a:off x="661475" y="1455241"/>
            <a:ext cx="617026" cy="251419"/>
          </a:xfrm>
          <a:prstGeom prst="roundRect">
            <a:avLst>
              <a:gd name="adj" fmla="val 22103"/>
            </a:avLst>
          </a:prstGeom>
          <a:solidFill>
            <a:srgbClr val="FFD8CC"/>
          </a:solidFill>
          <a:ln>
            <a:prstDash val="solid"/>
          </a:ln>
        </p:spPr>
      </p:sp>
      <p:sp>
        <p:nvSpPr>
          <p:cNvPr id="385" name="Shape 385"/>
          <p:cNvSpPr/>
          <p:nvPr/>
        </p:nvSpPr>
        <p:spPr>
          <a:xfrm>
            <a:off x="760691" y="1504851"/>
            <a:ext cx="1028178" cy="15220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1980-Е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6" name="Shape 386"/>
          <p:cNvSpPr/>
          <p:nvPr/>
        </p:nvSpPr>
        <p:spPr>
          <a:xfrm>
            <a:off x="661475" y="1892697"/>
            <a:ext cx="10868745" cy="79384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Проект разбивается на </a:t>
            </a:r>
            <a:r>
              <a:rPr sz="13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инкременты</a:t>
            </a: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части. Каждый инкремент представляет собой полный цикл разработки (от требований до внедрения), но только для определённой части функциональности. Продукт «растёт» постепенно: сначала ядро системы, затем дополнительные функции.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7" name="Shape 387"/>
          <p:cNvSpPr/>
          <p:nvPr/>
        </p:nvSpPr>
        <p:spPr>
          <a:xfrm>
            <a:off x="542415" y="2872581"/>
            <a:ext cx="5470785" cy="3377504"/>
          </a:xfrm>
          <a:prstGeom prst="roundRect">
            <a:avLst>
              <a:gd name="adj" fmla="val 3526"/>
            </a:avLst>
          </a:prstGeom>
          <a:solidFill>
            <a:srgbClr val="FFAD94"/>
          </a:solidFill>
          <a:ln>
            <a:prstDash val="solid"/>
          </a:ln>
        </p:spPr>
      </p:sp>
      <p:sp>
        <p:nvSpPr>
          <p:cNvPr id="388" name="Shape 388"/>
          <p:cNvSpPr/>
          <p:nvPr/>
        </p:nvSpPr>
        <p:spPr>
          <a:xfrm>
            <a:off x="707710" y="3037880"/>
            <a:ext cx="5140196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Как это работает</a:t>
            </a:r>
            <a:endParaRPr sz="16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9" name="Shape 389"/>
          <p:cNvSpPr/>
          <p:nvPr/>
        </p:nvSpPr>
        <p:spPr>
          <a:xfrm>
            <a:off x="707710" y="3461643"/>
            <a:ext cx="5140196" cy="123199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1" i="0" u="none" strike="noStrike" cap="none" spc="0" baseline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Инкремент 1</a:t>
            </a: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ядро системы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1" i="0" u="none" strike="noStrike" cap="none" spc="0" baseline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Инкремент 2</a:t>
            </a: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дополнительные функции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1" i="0" u="none" strike="noStrike" cap="none" spc="0" baseline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Инкремент 3</a:t>
            </a: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— ещё функции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И так далее до завершения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Shape 390"/>
          <p:cNvSpPr/>
          <p:nvPr/>
        </p:nvSpPr>
        <p:spPr>
          <a:xfrm>
            <a:off x="6303904" y="3037880"/>
            <a:ext cx="5232666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Преимущества</a:t>
            </a:r>
            <a:endParaRPr sz="16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" name="Shape 391"/>
          <p:cNvSpPr/>
          <p:nvPr/>
        </p:nvSpPr>
        <p:spPr>
          <a:xfrm>
            <a:off x="6303904" y="3461643"/>
            <a:ext cx="5232666" cy="123199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Заказчик видит результат после каждого инкремента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Можно изменять требования между инкрементами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Раннее тестирование и отладка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Можно начать использовать продукт раньше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2" name="Shape 392"/>
          <p:cNvSpPr/>
          <p:nvPr/>
        </p:nvSpPr>
        <p:spPr>
          <a:xfrm>
            <a:off x="6303904" y="4858941"/>
            <a:ext cx="5232666" cy="25846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❌</a:t>
            </a: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Недостатки</a:t>
            </a:r>
            <a:endParaRPr sz="16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3" name="Shape 393"/>
          <p:cNvSpPr/>
          <p:nvPr/>
        </p:nvSpPr>
        <p:spPr>
          <a:xfrm>
            <a:off x="6303904" y="5282704"/>
            <a:ext cx="5232666" cy="90953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Требует хорошего планирования архитектуры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Нужно чётко определить границы каждого инкремента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Возможны проблемы интеграции между частями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4" name="Shape 394"/>
          <p:cNvSpPr/>
          <p:nvPr/>
        </p:nvSpPr>
        <p:spPr>
          <a:xfrm>
            <a:off x="-11880" y="1231310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395" name="Shape 395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97" name="Picture 397"/>
          <p:cNvPicPr/>
          <p:nvPr/>
        </p:nvPicPr>
        <p:blipFill>
          <a:blip r:embed="rId2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/>
        </p:nvSpPr>
        <p:spPr>
          <a:xfrm>
            <a:off x="661475" y="459481"/>
            <a:ext cx="10868745" cy="40381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Спиральная модель (Spiral)</a:t>
            </a:r>
            <a:endParaRPr sz="25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Shape 400"/>
          <p:cNvSpPr/>
          <p:nvPr/>
        </p:nvSpPr>
        <p:spPr>
          <a:xfrm>
            <a:off x="661475" y="1065113"/>
            <a:ext cx="1131661" cy="196254"/>
          </a:xfrm>
          <a:prstGeom prst="roundRect">
            <a:avLst>
              <a:gd name="adj" fmla="val 22122"/>
            </a:avLst>
          </a:prstGeom>
          <a:solidFill>
            <a:srgbClr val="FFD8CC"/>
          </a:solidFill>
          <a:ln>
            <a:prstDash val="solid"/>
          </a:ln>
        </p:spPr>
      </p:sp>
      <p:sp>
        <p:nvSpPr>
          <p:cNvPr id="401" name="Shape 401"/>
          <p:cNvSpPr/>
          <p:nvPr/>
        </p:nvSpPr>
        <p:spPr>
          <a:xfrm>
            <a:off x="738963" y="1103809"/>
            <a:ext cx="1586270" cy="11886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1986 · БАРРИ БОЭМ</a:t>
            </a:r>
            <a:endParaRPr sz="8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Shape 402"/>
          <p:cNvSpPr/>
          <p:nvPr/>
        </p:nvSpPr>
        <p:spPr>
          <a:xfrm>
            <a:off x="661475" y="1374874"/>
            <a:ext cx="10868745" cy="36810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Эволюция инкрементной модели, где каждый </a:t>
            </a:r>
            <a:r>
              <a:rPr sz="10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виток спирали</a:t>
            </a: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это полный цикл разработки с акцентом на </a:t>
            </a:r>
            <a:r>
              <a:rPr sz="10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анализ рисков</a:t>
            </a: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. Спираль расширяется, а продукт растёт от прототипа к готовой системе.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3" name="Shape 403"/>
          <p:cNvSpPr/>
          <p:nvPr/>
        </p:nvSpPr>
        <p:spPr>
          <a:xfrm>
            <a:off x="661475" y="2535833"/>
            <a:ext cx="3338528" cy="20190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Определение целей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Shape 404"/>
          <p:cNvSpPr/>
          <p:nvPr/>
        </p:nvSpPr>
        <p:spPr>
          <a:xfrm>
            <a:off x="661475" y="2798266"/>
            <a:ext cx="3338528" cy="18405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Что делаем на этом витке?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06" name="Picture 406"/>
          <p:cNvPicPr/>
          <p:nvPr/>
        </p:nvPicPr>
        <p:blipFill>
          <a:blip r:embed="rId2"/>
          <a:stretch/>
        </p:blipFill>
        <p:spPr>
          <a:xfrm>
            <a:off x="4193772" y="1856482"/>
            <a:ext cx="3804051" cy="3804146"/>
          </a:xfrm>
          <a:prstGeom prst="rect">
            <a:avLst/>
          </a:prstGeom>
        </p:spPr>
      </p:pic>
      <p:pic>
        <p:nvPicPr>
          <p:cNvPr id="408" name="Picture 40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233509" y="2572494"/>
            <a:ext cx="193273" cy="193277"/>
          </a:xfrm>
          <a:prstGeom prst="rect">
            <a:avLst/>
          </a:prstGeom>
        </p:spPr>
      </p:pic>
      <p:sp>
        <p:nvSpPr>
          <p:cNvPr id="409" name="Shape 409"/>
          <p:cNvSpPr/>
          <p:nvPr/>
        </p:nvSpPr>
        <p:spPr>
          <a:xfrm>
            <a:off x="8191593" y="2535833"/>
            <a:ext cx="3338627" cy="20190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Анализ рисков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" name="Shape 410"/>
          <p:cNvSpPr/>
          <p:nvPr/>
        </p:nvSpPr>
        <p:spPr>
          <a:xfrm>
            <a:off x="8191593" y="2798266"/>
            <a:ext cx="3338627" cy="18405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Что может пойти не так?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12" name="Picture 412"/>
          <p:cNvPicPr/>
          <p:nvPr/>
        </p:nvPicPr>
        <p:blipFill>
          <a:blip r:embed="rId4"/>
          <a:stretch/>
        </p:blipFill>
        <p:spPr>
          <a:xfrm>
            <a:off x="4193772" y="1856482"/>
            <a:ext cx="3804051" cy="3804146"/>
          </a:xfrm>
          <a:prstGeom prst="rect">
            <a:avLst/>
          </a:prstGeom>
        </p:spPr>
      </p:pic>
      <p:pic>
        <p:nvPicPr>
          <p:cNvPr id="414" name="Picture 4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088357" y="2896245"/>
            <a:ext cx="193272" cy="193277"/>
          </a:xfrm>
          <a:prstGeom prst="rect">
            <a:avLst/>
          </a:prstGeom>
        </p:spPr>
      </p:pic>
      <p:sp>
        <p:nvSpPr>
          <p:cNvPr id="415" name="Shape 415"/>
          <p:cNvSpPr/>
          <p:nvPr/>
        </p:nvSpPr>
        <p:spPr>
          <a:xfrm>
            <a:off x="8191593" y="4534793"/>
            <a:ext cx="3338627" cy="20191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Разработка и тестирование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6" name="Shape 416"/>
          <p:cNvSpPr/>
          <p:nvPr/>
        </p:nvSpPr>
        <p:spPr>
          <a:xfrm>
            <a:off x="8191593" y="4797227"/>
            <a:ext cx="3338627" cy="18405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Создание прототипа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18" name="Picture 418"/>
          <p:cNvPicPr/>
          <p:nvPr/>
        </p:nvPicPr>
        <p:blipFill>
          <a:blip r:embed="rId6"/>
          <a:stretch/>
        </p:blipFill>
        <p:spPr>
          <a:xfrm>
            <a:off x="4193772" y="1856482"/>
            <a:ext cx="3804051" cy="3804146"/>
          </a:xfrm>
          <a:prstGeom prst="rect">
            <a:avLst/>
          </a:prstGeom>
        </p:spPr>
      </p:pic>
      <p:pic>
        <p:nvPicPr>
          <p:cNvPr id="420" name="Picture 42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764615" y="4751139"/>
            <a:ext cx="193272" cy="193278"/>
          </a:xfrm>
          <a:prstGeom prst="rect">
            <a:avLst/>
          </a:prstGeom>
        </p:spPr>
      </p:pic>
      <p:sp>
        <p:nvSpPr>
          <p:cNvPr id="421" name="Shape 421"/>
          <p:cNvSpPr/>
          <p:nvPr/>
        </p:nvSpPr>
        <p:spPr>
          <a:xfrm>
            <a:off x="661475" y="4534793"/>
            <a:ext cx="3338528" cy="20191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Планирование следующего витка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2" name="Shape 422"/>
          <p:cNvSpPr/>
          <p:nvPr/>
        </p:nvSpPr>
        <p:spPr>
          <a:xfrm>
            <a:off x="661475" y="4797227"/>
            <a:ext cx="3338528" cy="18405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Что делаем дальше?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24" name="Picture 424"/>
          <p:cNvPicPr/>
          <p:nvPr/>
        </p:nvPicPr>
        <p:blipFill>
          <a:blip r:embed="rId8"/>
          <a:stretch/>
        </p:blipFill>
        <p:spPr>
          <a:xfrm>
            <a:off x="4193772" y="1856482"/>
            <a:ext cx="3804051" cy="3804146"/>
          </a:xfrm>
          <a:prstGeom prst="rect">
            <a:avLst/>
          </a:prstGeom>
        </p:spPr>
      </p:pic>
      <p:pic>
        <p:nvPicPr>
          <p:cNvPr id="426" name="Picture 42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909767" y="4427389"/>
            <a:ext cx="193273" cy="193278"/>
          </a:xfrm>
          <a:prstGeom prst="rect">
            <a:avLst/>
          </a:prstGeom>
        </p:spPr>
      </p:pic>
      <p:sp>
        <p:nvSpPr>
          <p:cNvPr id="427" name="Shape 427"/>
          <p:cNvSpPr/>
          <p:nvPr/>
        </p:nvSpPr>
        <p:spPr>
          <a:xfrm>
            <a:off x="661475" y="5774134"/>
            <a:ext cx="10868745" cy="624284"/>
          </a:xfrm>
          <a:prstGeom prst="roundRect">
            <a:avLst>
              <a:gd name="adj" fmla="val 8693"/>
            </a:avLst>
          </a:prstGeom>
          <a:solidFill>
            <a:srgbClr val="FFD8CC"/>
          </a:solidFill>
          <a:ln>
            <a:prstDash val="solid"/>
          </a:ln>
        </p:spPr>
      </p:sp>
      <p:pic>
        <p:nvPicPr>
          <p:cNvPr id="429" name="Picture 429"/>
          <p:cNvPicPr/>
          <p:nvPr/>
        </p:nvPicPr>
        <p:blipFill>
          <a:blip r:embed="rId10"/>
          <a:stretch/>
        </p:blipFill>
        <p:spPr>
          <a:xfrm>
            <a:off x="790654" y="5914827"/>
            <a:ext cx="161424" cy="129182"/>
          </a:xfrm>
          <a:prstGeom prst="rect">
            <a:avLst/>
          </a:prstGeom>
        </p:spPr>
      </p:pic>
      <p:sp>
        <p:nvSpPr>
          <p:cNvPr id="430" name="Shape 430"/>
          <p:cNvSpPr/>
          <p:nvPr/>
        </p:nvSpPr>
        <p:spPr>
          <a:xfrm>
            <a:off x="1081259" y="5907286"/>
            <a:ext cx="10319782" cy="36810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strike="noStrike" cap="none" spc="0" baseline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Применение:</a:t>
            </a:r>
            <a:r>
              <a:rPr sz="10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Крупные, сложные и рискованные проекты. Системы, где важна безопасность и надёжность — медицина, авиация, финансы. Проекты с неопределёнными требованиями.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1" name="Shape 431"/>
          <p:cNvSpPr/>
          <p:nvPr/>
        </p:nvSpPr>
        <p:spPr>
          <a:xfrm>
            <a:off x="-11880" y="922840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432" name="Shape 432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34" name="Picture 434"/>
          <p:cNvPicPr/>
          <p:nvPr/>
        </p:nvPicPr>
        <p:blipFill>
          <a:blip r:embed="rId11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436"/>
          <p:cNvSpPr/>
          <p:nvPr/>
        </p:nvSpPr>
        <p:spPr>
          <a:xfrm>
            <a:off x="661475" y="514548"/>
            <a:ext cx="10868745" cy="47644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Итеративная модель (Iterative)</a:t>
            </a:r>
            <a:endParaRPr sz="3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7" name="Shape 437"/>
          <p:cNvSpPr/>
          <p:nvPr/>
        </p:nvSpPr>
        <p:spPr>
          <a:xfrm>
            <a:off x="661475" y="1272084"/>
            <a:ext cx="568608" cy="231675"/>
          </a:xfrm>
          <a:prstGeom prst="roundRect">
            <a:avLst>
              <a:gd name="adj" fmla="val 22113"/>
            </a:avLst>
          </a:prstGeom>
          <a:solidFill>
            <a:srgbClr val="FFD8CC"/>
          </a:solidFill>
          <a:ln>
            <a:prstDash val="solid"/>
          </a:ln>
        </p:spPr>
      </p:sp>
      <p:sp>
        <p:nvSpPr>
          <p:cNvPr id="438" name="Shape 438"/>
          <p:cNvSpPr/>
          <p:nvPr/>
        </p:nvSpPr>
        <p:spPr>
          <a:xfrm>
            <a:off x="752952" y="1317823"/>
            <a:ext cx="995238" cy="14019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1990-Е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9" name="Shape 439"/>
          <p:cNvSpPr/>
          <p:nvPr/>
        </p:nvSpPr>
        <p:spPr>
          <a:xfrm>
            <a:off x="661475" y="1661815"/>
            <a:ext cx="10868745" cy="70336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Проект разбивается на </a:t>
            </a:r>
            <a:r>
              <a:rPr sz="12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итерации</a:t>
            </a: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повторения. Каждая итерация — полный цикл разработки, но результат — это </a:t>
            </a:r>
            <a:r>
              <a:rPr sz="12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улучшенная версия одного и того же продукта</a:t>
            </a: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. В отличие от инкрементной модели, где добавляются новые функции, в итеративной — совершенствуется уже существующее.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0" name="Shape 440"/>
          <p:cNvSpPr/>
          <p:nvPr/>
        </p:nvSpPr>
        <p:spPr>
          <a:xfrm>
            <a:off x="890167" y="3133130"/>
            <a:ext cx="3300428" cy="152400"/>
          </a:xfrm>
          <a:prstGeom prst="roundRect">
            <a:avLst>
              <a:gd name="adj" fmla="val 4201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441" name="Shape 441"/>
          <p:cNvSpPr/>
          <p:nvPr/>
        </p:nvSpPr>
        <p:spPr>
          <a:xfrm>
            <a:off x="813870" y="3578523"/>
            <a:ext cx="3224429" cy="238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Итерация 1 — Базовая версия</a:t>
            </a:r>
            <a:endParaRPr sz="15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2" name="Shape 442"/>
          <p:cNvSpPr/>
          <p:nvPr/>
        </p:nvSpPr>
        <p:spPr>
          <a:xfrm>
            <a:off x="813870" y="3901082"/>
            <a:ext cx="3224429" cy="46890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Анализ → Проект → Код → Тест → Версия 1.0 (минимальная функциональность)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3" name="Shape 443"/>
          <p:cNvSpPr/>
          <p:nvPr/>
        </p:nvSpPr>
        <p:spPr>
          <a:xfrm>
            <a:off x="4559880" y="2904430"/>
            <a:ext cx="3300429" cy="152400"/>
          </a:xfrm>
          <a:prstGeom prst="roundRect">
            <a:avLst>
              <a:gd name="adj" fmla="val 4201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444" name="Shape 444"/>
          <p:cNvSpPr/>
          <p:nvPr/>
        </p:nvSpPr>
        <p:spPr>
          <a:xfrm>
            <a:off x="4483583" y="3349823"/>
            <a:ext cx="3224428" cy="47644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Итерация 2 — Улучшенная версия</a:t>
            </a:r>
            <a:endParaRPr sz="15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5" name="Shape 445"/>
          <p:cNvSpPr/>
          <p:nvPr/>
        </p:nvSpPr>
        <p:spPr>
          <a:xfrm>
            <a:off x="4483583" y="3910607"/>
            <a:ext cx="3224428" cy="46890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Анализ → Проект → Код → Тест → Версия 1.5 (доработки по обратной связи)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6" name="Shape 446"/>
          <p:cNvSpPr/>
          <p:nvPr/>
        </p:nvSpPr>
        <p:spPr>
          <a:xfrm>
            <a:off x="8229593" y="2675731"/>
            <a:ext cx="3300528" cy="152400"/>
          </a:xfrm>
          <a:prstGeom prst="roundRect">
            <a:avLst>
              <a:gd name="adj" fmla="val 4201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447" name="Shape 447"/>
          <p:cNvSpPr/>
          <p:nvPr/>
        </p:nvSpPr>
        <p:spPr>
          <a:xfrm>
            <a:off x="8153295" y="3121124"/>
            <a:ext cx="3224528" cy="23822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Итерация 3 — Зрелый продукт</a:t>
            </a:r>
            <a:endParaRPr sz="15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8" name="Shape 448"/>
          <p:cNvSpPr/>
          <p:nvPr/>
        </p:nvSpPr>
        <p:spPr>
          <a:xfrm>
            <a:off x="8153295" y="3443684"/>
            <a:ext cx="3224528" cy="4689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Анализ → Проект → Код → Тест → Версия 2.0 (стабильная, полноценная система)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9" name="Shape 449"/>
          <p:cNvSpPr/>
          <p:nvPr/>
        </p:nvSpPr>
        <p:spPr>
          <a:xfrm>
            <a:off x="661475" y="4830465"/>
            <a:ext cx="5248441" cy="238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✅</a:t>
            </a:r>
            <a:r>
              <a:rPr sz="15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Плюсы</a:t>
            </a:r>
            <a:endParaRPr sz="15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0" name="Shape 450"/>
          <p:cNvSpPr/>
          <p:nvPr/>
        </p:nvSpPr>
        <p:spPr>
          <a:xfrm>
            <a:off x="661475" y="5209183"/>
            <a:ext cx="5248441" cy="10851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Гибкость — можно менять требования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Раннее тестирование и обратная связь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Постепенное улучшение качества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Снижение рисков — ошибки видны рано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1" name="Shape 451"/>
          <p:cNvSpPr/>
          <p:nvPr/>
        </p:nvSpPr>
        <p:spPr>
          <a:xfrm>
            <a:off x="6288129" y="4830465"/>
            <a:ext cx="5248441" cy="23822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❌</a:t>
            </a:r>
            <a:r>
              <a:rPr sz="15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Минусы</a:t>
            </a:r>
            <a:endParaRPr sz="15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2" name="Shape 452"/>
          <p:cNvSpPr/>
          <p:nvPr/>
        </p:nvSpPr>
        <p:spPr>
          <a:xfrm>
            <a:off x="6288129" y="5209183"/>
            <a:ext cx="5248441" cy="10851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Требует вовлечённости заказчика на каждой итерации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Сложнее планировать общий бюджет и сроки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Может «расползтись» по времени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43840" marR="0" lvl="0" indent="-24384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2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Требует опытной команды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3" name="Shape 453"/>
          <p:cNvSpPr/>
          <p:nvPr/>
        </p:nvSpPr>
        <p:spPr>
          <a:xfrm>
            <a:off x="661475" y="2980630"/>
            <a:ext cx="457386" cy="457398"/>
          </a:xfrm>
          <a:prstGeom prst="ellipse">
            <a:avLst/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pic>
        <p:nvPicPr>
          <p:cNvPr id="455" name="Picture 45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75772" y="3095030"/>
            <a:ext cx="228692" cy="228698"/>
          </a:xfrm>
          <a:prstGeom prst="rect">
            <a:avLst/>
          </a:prstGeom>
        </p:spPr>
      </p:pic>
      <p:sp>
        <p:nvSpPr>
          <p:cNvPr id="456" name="Shape 456"/>
          <p:cNvSpPr/>
          <p:nvPr/>
        </p:nvSpPr>
        <p:spPr>
          <a:xfrm>
            <a:off x="4331187" y="2751931"/>
            <a:ext cx="457387" cy="457398"/>
          </a:xfrm>
          <a:prstGeom prst="ellipse">
            <a:avLst/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pic>
        <p:nvPicPr>
          <p:cNvPr id="458" name="Picture 45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45484" y="2866330"/>
            <a:ext cx="228693" cy="228699"/>
          </a:xfrm>
          <a:prstGeom prst="rect">
            <a:avLst/>
          </a:prstGeom>
        </p:spPr>
      </p:pic>
      <p:sp>
        <p:nvSpPr>
          <p:cNvPr id="459" name="Shape 459"/>
          <p:cNvSpPr/>
          <p:nvPr/>
        </p:nvSpPr>
        <p:spPr>
          <a:xfrm>
            <a:off x="8000899" y="2523232"/>
            <a:ext cx="457386" cy="457398"/>
          </a:xfrm>
          <a:prstGeom prst="ellipse">
            <a:avLst/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pic>
        <p:nvPicPr>
          <p:cNvPr id="461" name="Picture 46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115196" y="2637631"/>
            <a:ext cx="228693" cy="228699"/>
          </a:xfrm>
          <a:prstGeom prst="rect">
            <a:avLst/>
          </a:prstGeom>
        </p:spPr>
      </p:pic>
      <p:sp>
        <p:nvSpPr>
          <p:cNvPr id="462" name="Shape 462"/>
          <p:cNvSpPr/>
          <p:nvPr/>
        </p:nvSpPr>
        <p:spPr>
          <a:xfrm>
            <a:off x="-11880" y="108808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463" name="Shape 463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65" name="Picture 465"/>
          <p:cNvPicPr/>
          <p:nvPr/>
        </p:nvPicPr>
        <p:blipFill>
          <a:blip r:embed="rId5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/>
          <p:nvPr/>
        </p:nvSpPr>
        <p:spPr>
          <a:xfrm>
            <a:off x="661475" y="500360"/>
            <a:ext cx="10868745" cy="51673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Сравнительная таблица моделей</a:t>
            </a:r>
            <a:endParaRPr sz="3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8" name="Shape 468"/>
          <p:cNvSpPr/>
          <p:nvPr/>
        </p:nvSpPr>
        <p:spPr>
          <a:xfrm>
            <a:off x="661475" y="1347788"/>
            <a:ext cx="11478330" cy="26461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Ключевые различия между четырьмя моделями жизненного цикла по основным критериям выбора.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69" name="Table 469"/>
          <p:cNvGraphicFramePr/>
          <p:nvPr/>
        </p:nvGraphicFramePr>
        <p:xfrm>
          <a:off x="661475" y="1798439"/>
          <a:ext cx="10868745" cy="4546288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Критерий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Каскадная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Инкрементная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Спиральная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Итеративная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Структура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Линейная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Части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Спираль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Циклы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Возврат назад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Нет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Частично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Да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Да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Обратная связь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В конце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После каждой части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На каждом витке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На каждой итерации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Анализ рисков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Слабый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Средний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Сильный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Средний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Гибкость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Низкая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Средняя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Высокая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Высокая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Стоимость изменений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Высокая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Средняя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Низкая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Низкая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4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Документация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Много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Средне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Много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Меньше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0352"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Подходит для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Фиксированные требования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Крупные проекты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Рискованные проекты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403C4E"/>
                          </a:solidFill>
                          <a:latin typeface="Open Sans"/>
                          <a:ea typeface="Open Sans"/>
                          <a:cs typeface="Open Sans"/>
                        </a:rPr>
                        <a:t>Меняющиеся требования</a:t>
                      </a:r>
                      <a:endParaRPr sz="13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65391" marR="165391" marT="6350" marB="6350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5F5F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5BEB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0" name="Shape 470"/>
          <p:cNvSpPr/>
          <p:nvPr/>
        </p:nvSpPr>
        <p:spPr>
          <a:xfrm>
            <a:off x="-11880" y="107707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471" name="Shape 471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73" name="Picture 473"/>
          <p:cNvPicPr/>
          <p:nvPr/>
        </p:nvPicPr>
        <p:blipFill>
          <a:blip r:embed="rId2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Picture 476"/>
          <p:cNvPicPr/>
          <p:nvPr/>
        </p:nvPicPr>
        <p:blipFill>
          <a:blip r:embed="rId2"/>
          <a:stretch/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477" name="Shape 477"/>
          <p:cNvSpPr/>
          <p:nvPr/>
        </p:nvSpPr>
        <p:spPr>
          <a:xfrm>
            <a:off x="5233360" y="509488"/>
            <a:ext cx="6296860" cy="41185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Что выбрать: шпаргалка</a:t>
            </a:r>
            <a:endParaRPr sz="25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8" name="Shape 478"/>
          <p:cNvSpPr/>
          <p:nvPr/>
        </p:nvSpPr>
        <p:spPr>
          <a:xfrm>
            <a:off x="5233360" y="1078805"/>
            <a:ext cx="6296860" cy="37881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Выбор модели зависит от характеристик проекта, требований заказчика и уровня рисков. Используйте эту таблицу как быстрый ориентир при принятии решения.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9" name="Shape 479"/>
          <p:cNvSpPr/>
          <p:nvPr/>
        </p:nvSpPr>
        <p:spPr>
          <a:xfrm>
            <a:off x="5233360" y="1575693"/>
            <a:ext cx="6296860" cy="923925"/>
          </a:xfrm>
          <a:prstGeom prst="roundRect">
            <a:avLst>
              <a:gd name="adj" fmla="val 599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480" name="Shape 480"/>
          <p:cNvSpPr/>
          <p:nvPr/>
        </p:nvSpPr>
        <p:spPr>
          <a:xfrm>
            <a:off x="5371470" y="1713805"/>
            <a:ext cx="6020642" cy="20587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📋</a:t>
            </a: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Требования чёткие, проект небольшой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1" name="Shape 481"/>
          <p:cNvSpPr/>
          <p:nvPr/>
        </p:nvSpPr>
        <p:spPr>
          <a:xfrm>
            <a:off x="5371470" y="1982688"/>
            <a:ext cx="6020642" cy="37881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Каскадная модель</a:t>
            </a: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простая структура, чёткое планирование, минимум накладных расходов.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2" name="Shape 482"/>
          <p:cNvSpPr/>
          <p:nvPr/>
        </p:nvSpPr>
        <p:spPr>
          <a:xfrm>
            <a:off x="5233360" y="2604591"/>
            <a:ext cx="6296860" cy="923925"/>
          </a:xfrm>
          <a:prstGeom prst="roundRect">
            <a:avLst>
              <a:gd name="adj" fmla="val 599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483" name="Shape 483"/>
          <p:cNvSpPr/>
          <p:nvPr/>
        </p:nvSpPr>
        <p:spPr>
          <a:xfrm>
            <a:off x="5371470" y="2742704"/>
            <a:ext cx="6020642" cy="20587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🏗️</a:t>
            </a: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Проект большой, можно разбить на части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4" name="Shape 484"/>
          <p:cNvSpPr/>
          <p:nvPr/>
        </p:nvSpPr>
        <p:spPr>
          <a:xfrm>
            <a:off x="5371470" y="3011587"/>
            <a:ext cx="6020642" cy="37881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Инкрементная модель</a:t>
            </a: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заказчик видит прогресс, можно корректировать курс между инкрементами.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5" name="Shape 485"/>
          <p:cNvSpPr/>
          <p:nvPr/>
        </p:nvSpPr>
        <p:spPr>
          <a:xfrm>
            <a:off x="5233360" y="3633489"/>
            <a:ext cx="6296860" cy="923925"/>
          </a:xfrm>
          <a:prstGeom prst="roundRect">
            <a:avLst>
              <a:gd name="adj" fmla="val 599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486" name="Shape 486"/>
          <p:cNvSpPr/>
          <p:nvPr/>
        </p:nvSpPr>
        <p:spPr>
          <a:xfrm>
            <a:off x="5371470" y="3771602"/>
            <a:ext cx="6020642" cy="20587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⚠️</a:t>
            </a: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Проект рискованный, нужны прототипы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7" name="Shape 487"/>
          <p:cNvSpPr/>
          <p:nvPr/>
        </p:nvSpPr>
        <p:spPr>
          <a:xfrm>
            <a:off x="5371470" y="4040485"/>
            <a:ext cx="6020642" cy="37881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Спиральная модель</a:t>
            </a: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акцент на анализ рисков, прототипирование, подходит для медицины и авиации.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8" name="Shape 488"/>
          <p:cNvSpPr/>
          <p:nvPr/>
        </p:nvSpPr>
        <p:spPr>
          <a:xfrm>
            <a:off x="5233360" y="4662388"/>
            <a:ext cx="6296860" cy="923925"/>
          </a:xfrm>
          <a:prstGeom prst="roundRect">
            <a:avLst>
              <a:gd name="adj" fmla="val 599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489" name="Shape 489"/>
          <p:cNvSpPr/>
          <p:nvPr/>
        </p:nvSpPr>
        <p:spPr>
          <a:xfrm>
            <a:off x="5371470" y="4800501"/>
            <a:ext cx="6020642" cy="20587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🔄</a:t>
            </a:r>
            <a:r>
              <a:rPr sz="1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Требования меняются, нужна гибкость</a:t>
            </a:r>
            <a:endParaRPr sz="1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0" name="Shape 490"/>
          <p:cNvSpPr/>
          <p:nvPr/>
        </p:nvSpPr>
        <p:spPr>
          <a:xfrm>
            <a:off x="5371470" y="5069384"/>
            <a:ext cx="6020642" cy="37881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strike="noStrike" cap="none" spc="0" baseline="0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Итеративная модель</a:t>
            </a:r>
            <a:r>
              <a:rPr sz="10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быстрая обратная связь, постепенное улучшение, идеально для веб и мобильных приложений.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1" name="Shape 491"/>
          <p:cNvSpPr/>
          <p:nvPr/>
        </p:nvSpPr>
        <p:spPr>
          <a:xfrm>
            <a:off x="5233360" y="5704384"/>
            <a:ext cx="6296860" cy="644128"/>
          </a:xfrm>
          <a:prstGeom prst="roundRect">
            <a:avLst>
              <a:gd name="adj" fmla="val 8594"/>
            </a:avLst>
          </a:prstGeom>
          <a:solidFill>
            <a:srgbClr val="FFD8CC"/>
          </a:solidFill>
          <a:ln>
            <a:prstDash val="solid"/>
          </a:ln>
        </p:spPr>
      </p:sp>
      <p:pic>
        <p:nvPicPr>
          <p:cNvPr id="493" name="Picture 493"/>
          <p:cNvPicPr/>
          <p:nvPr/>
        </p:nvPicPr>
        <p:blipFill>
          <a:blip r:embed="rId3"/>
          <a:stretch/>
        </p:blipFill>
        <p:spPr>
          <a:xfrm>
            <a:off x="5365120" y="5854005"/>
            <a:ext cx="164698" cy="131762"/>
          </a:xfrm>
          <a:prstGeom prst="rect">
            <a:avLst/>
          </a:prstGeom>
        </p:spPr>
      </p:pic>
      <p:sp>
        <p:nvSpPr>
          <p:cNvPr id="494" name="Shape 494"/>
          <p:cNvSpPr/>
          <p:nvPr/>
        </p:nvSpPr>
        <p:spPr>
          <a:xfrm>
            <a:off x="5661578" y="5842298"/>
            <a:ext cx="5736883" cy="37881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strike="noStrike" cap="none" spc="0" baseline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Особые случаи:</a:t>
            </a:r>
            <a:r>
              <a:rPr sz="10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Государственный заказ с жёсткими стандартами → Каскадная. Быстрый запуск MVP → Итеративная / Agile.</a:t>
            </a:r>
            <a:endParaRPr sz="10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5" name="Shape 495"/>
          <p:cNvSpPr/>
          <p:nvPr/>
        </p:nvSpPr>
        <p:spPr>
          <a:xfrm>
            <a:off x="-11880" y="966906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496" name="Shape 496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98" name="Picture 498"/>
          <p:cNvPicPr/>
          <p:nvPr/>
        </p:nvPicPr>
        <p:blipFill>
          <a:blip r:embed="rId4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/>
          <p:nvPr/>
        </p:nvSpPr>
        <p:spPr>
          <a:xfrm>
            <a:off x="661475" y="503436"/>
            <a:ext cx="10868745" cy="45223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28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Итоги, вопросы и задания</a:t>
            </a:r>
            <a:endParaRPr sz="2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1" name="Shape 501"/>
          <p:cNvSpPr/>
          <p:nvPr/>
        </p:nvSpPr>
        <p:spPr>
          <a:xfrm>
            <a:off x="661475" y="1272183"/>
            <a:ext cx="5818935" cy="22602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4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Что важно запомнить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2" name="Shape 502"/>
          <p:cNvSpPr/>
          <p:nvPr/>
        </p:nvSpPr>
        <p:spPr>
          <a:xfrm>
            <a:off x="661475" y="1640582"/>
            <a:ext cx="289413" cy="18087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l">
              <a:lnSpc>
                <a:spcPct val="100000"/>
              </a:lnSpc>
            </a:pPr>
            <a:r>
              <a:rPr sz="1100">
                <a:solidFill>
                  <a:srgbClr val="403C4E"/>
                </a:solidFill>
                <a:latin typeface="Merriweather Light"/>
                <a:ea typeface="Merriweather Light"/>
                <a:cs typeface="Merriweather Light"/>
              </a:rPr>
              <a:t>01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3" name="Shape 503"/>
          <p:cNvSpPr/>
          <p:nvPr/>
        </p:nvSpPr>
        <p:spPr>
          <a:xfrm>
            <a:off x="661475" y="1867396"/>
            <a:ext cx="5818935" cy="19050"/>
          </a:xfrm>
          <a:prstGeom prst="rect">
            <a:avLst/>
          </a:prstGeom>
          <a:solidFill>
            <a:srgbClr val="FFAD94"/>
          </a:solidFill>
          <a:ln>
            <a:prstDash val="solid"/>
          </a:ln>
        </p:spPr>
      </p:sp>
      <p:sp>
        <p:nvSpPr>
          <p:cNvPr id="504" name="Shape 504"/>
          <p:cNvSpPr/>
          <p:nvPr/>
        </p:nvSpPr>
        <p:spPr>
          <a:xfrm>
            <a:off x="661475" y="1977827"/>
            <a:ext cx="5818935" cy="43418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5000"/>
              </a:lnSpc>
            </a:pPr>
            <a:r>
              <a:rPr sz="1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Технология разработки ПО</a:t>
            </a:r>
            <a:r>
              <a:rPr sz="11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методы, инструменты и процессы для создания программ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5" name="Shape 505"/>
          <p:cNvSpPr/>
          <p:nvPr/>
        </p:nvSpPr>
        <p:spPr>
          <a:xfrm>
            <a:off x="661475" y="2647057"/>
            <a:ext cx="289413" cy="18087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l">
              <a:lnSpc>
                <a:spcPct val="100000"/>
              </a:lnSpc>
            </a:pPr>
            <a:r>
              <a:rPr sz="1100">
                <a:solidFill>
                  <a:srgbClr val="403C4E"/>
                </a:solidFill>
                <a:latin typeface="Merriweather Light"/>
                <a:ea typeface="Merriweather Light"/>
                <a:cs typeface="Merriweather Light"/>
              </a:rPr>
              <a:t>02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6" name="Shape 506"/>
          <p:cNvSpPr/>
          <p:nvPr/>
        </p:nvSpPr>
        <p:spPr>
          <a:xfrm>
            <a:off x="661475" y="2873871"/>
            <a:ext cx="5818935" cy="19050"/>
          </a:xfrm>
          <a:prstGeom prst="rect">
            <a:avLst/>
          </a:prstGeom>
          <a:solidFill>
            <a:srgbClr val="FFAD94"/>
          </a:solidFill>
          <a:ln>
            <a:prstDash val="solid"/>
          </a:ln>
        </p:spPr>
      </p:sp>
      <p:sp>
        <p:nvSpPr>
          <p:cNvPr id="507" name="Shape 507"/>
          <p:cNvSpPr/>
          <p:nvPr/>
        </p:nvSpPr>
        <p:spPr>
          <a:xfrm>
            <a:off x="661475" y="2984302"/>
            <a:ext cx="5818935" cy="43418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5000"/>
              </a:lnSpc>
            </a:pPr>
            <a:r>
              <a:rPr sz="1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Жизненный цикл ПО</a:t>
            </a:r>
            <a:r>
              <a:rPr sz="11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от идеи до вывода из эксплуатации; разработка — лишь часть ЖЦ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8" name="Shape 508"/>
          <p:cNvSpPr/>
          <p:nvPr/>
        </p:nvSpPr>
        <p:spPr>
          <a:xfrm>
            <a:off x="661475" y="3653532"/>
            <a:ext cx="289413" cy="18087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l">
              <a:lnSpc>
                <a:spcPct val="100000"/>
              </a:lnSpc>
            </a:pPr>
            <a:r>
              <a:rPr sz="1100">
                <a:solidFill>
                  <a:srgbClr val="403C4E"/>
                </a:solidFill>
                <a:latin typeface="Merriweather Light"/>
                <a:ea typeface="Merriweather Light"/>
                <a:cs typeface="Merriweather Light"/>
              </a:rPr>
              <a:t>03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9" name="Shape 509"/>
          <p:cNvSpPr/>
          <p:nvPr/>
        </p:nvSpPr>
        <p:spPr>
          <a:xfrm>
            <a:off x="661475" y="3880346"/>
            <a:ext cx="5818935" cy="19050"/>
          </a:xfrm>
          <a:prstGeom prst="rect">
            <a:avLst/>
          </a:prstGeom>
          <a:solidFill>
            <a:srgbClr val="FFAD94"/>
          </a:solidFill>
          <a:ln>
            <a:prstDash val="solid"/>
          </a:ln>
        </p:spPr>
      </p:sp>
      <p:sp>
        <p:nvSpPr>
          <p:cNvPr id="510" name="Shape 510"/>
          <p:cNvSpPr/>
          <p:nvPr/>
        </p:nvSpPr>
        <p:spPr>
          <a:xfrm>
            <a:off x="661475" y="3990777"/>
            <a:ext cx="5818935" cy="43418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5000"/>
              </a:lnSpc>
            </a:pPr>
            <a:r>
              <a:rPr sz="1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Этапы ЖЦ:</a:t>
            </a:r>
            <a:r>
              <a:rPr sz="11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анализ → проектирование → разработка → тестирование → внедрение → сопровождение → вывод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1" name="Shape 511"/>
          <p:cNvSpPr/>
          <p:nvPr/>
        </p:nvSpPr>
        <p:spPr>
          <a:xfrm>
            <a:off x="661475" y="4660007"/>
            <a:ext cx="289413" cy="180876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indent="0" algn="l">
              <a:lnSpc>
                <a:spcPct val="100000"/>
              </a:lnSpc>
            </a:pPr>
            <a:r>
              <a:rPr sz="1100">
                <a:solidFill>
                  <a:srgbClr val="403C4E"/>
                </a:solidFill>
                <a:latin typeface="Merriweather Light"/>
                <a:ea typeface="Merriweather Light"/>
                <a:cs typeface="Merriweather Light"/>
              </a:rPr>
              <a:t>04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2" name="Shape 512"/>
          <p:cNvSpPr/>
          <p:nvPr/>
        </p:nvSpPr>
        <p:spPr>
          <a:xfrm>
            <a:off x="661475" y="4886821"/>
            <a:ext cx="5818935" cy="19050"/>
          </a:xfrm>
          <a:prstGeom prst="rect">
            <a:avLst/>
          </a:prstGeom>
          <a:solidFill>
            <a:srgbClr val="FFAD94"/>
          </a:solidFill>
          <a:ln>
            <a:prstDash val="solid"/>
          </a:ln>
        </p:spPr>
      </p:sp>
      <p:sp>
        <p:nvSpPr>
          <p:cNvPr id="513" name="Shape 513"/>
          <p:cNvSpPr/>
          <p:nvPr/>
        </p:nvSpPr>
        <p:spPr>
          <a:xfrm>
            <a:off x="661475" y="4997252"/>
            <a:ext cx="5818935" cy="217091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25000"/>
              </a:lnSpc>
            </a:pPr>
            <a:r>
              <a:rPr sz="1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Модель ЖЦ</a:t>
            </a:r>
            <a:r>
              <a:rPr sz="11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определяет порядок этапов, </a:t>
            </a:r>
            <a:r>
              <a:rPr sz="1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</a:rPr>
              <a:t>технология</a:t>
            </a:r>
            <a:r>
              <a:rPr sz="110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 — как они выполняются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4" name="Shape 514"/>
          <p:cNvSpPr/>
          <p:nvPr/>
        </p:nvSpPr>
        <p:spPr>
          <a:xfrm>
            <a:off x="6735594" y="1145580"/>
            <a:ext cx="4905054" cy="4319588"/>
          </a:xfrm>
          <a:prstGeom prst="roundRect">
            <a:avLst>
              <a:gd name="adj" fmla="val 2412"/>
            </a:avLst>
          </a:prstGeom>
          <a:solidFill>
            <a:srgbClr val="FFAD94"/>
          </a:solidFill>
          <a:ln>
            <a:prstDash val="solid"/>
          </a:ln>
        </p:spPr>
      </p:sp>
      <p:sp>
        <p:nvSpPr>
          <p:cNvPr id="515" name="Shape 515"/>
          <p:cNvSpPr/>
          <p:nvPr/>
        </p:nvSpPr>
        <p:spPr>
          <a:xfrm>
            <a:off x="6880251" y="1272183"/>
            <a:ext cx="4615739" cy="22602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4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Вопросы для самоконтроля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6" name="Shape 516"/>
          <p:cNvSpPr/>
          <p:nvPr/>
        </p:nvSpPr>
        <p:spPr>
          <a:xfrm>
            <a:off x="6880251" y="1624806"/>
            <a:ext cx="4615739" cy="204648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Что такое технология разработки ПО?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Из каких компонентов состоит технология?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Чем отличается ЖЦ от процесса разработки?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Перечислите основные этапы ЖЦ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Что такое модель жизненного цикла?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 startAt="6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Как связаны технология и жизненный цикл?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 startAt="7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Какие стандарты регламентируют ЖЦ ПО?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Font typeface="+mj-lt"/>
              <a:buAutoNum type="arabicPeriod" startAt="8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Зачем нужен этап сопровождения?</a:t>
            </a:r>
            <a:endParaRPr sz="1100"/>
          </a:p>
        </p:txBody>
      </p:sp>
      <p:sp>
        <p:nvSpPr>
          <p:cNvPr id="517" name="Shape 517"/>
          <p:cNvSpPr/>
          <p:nvPr/>
        </p:nvSpPr>
        <p:spPr>
          <a:xfrm>
            <a:off x="6880251" y="3849787"/>
            <a:ext cx="4615739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>
            <a:prstDash val="solid"/>
          </a:ln>
        </p:spPr>
      </p:sp>
      <p:sp>
        <p:nvSpPr>
          <p:cNvPr id="518" name="Shape 518"/>
          <p:cNvSpPr/>
          <p:nvPr/>
        </p:nvSpPr>
        <p:spPr>
          <a:xfrm>
            <a:off x="6880251" y="4047330"/>
            <a:ext cx="4615739" cy="22601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</a:pPr>
            <a:r>
              <a:rPr sz="14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Домашнее задание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9" name="Shape 519"/>
          <p:cNvSpPr/>
          <p:nvPr/>
        </p:nvSpPr>
        <p:spPr>
          <a:xfrm>
            <a:off x="6880251" y="4399955"/>
            <a:ext cx="4615739" cy="95686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Выписать определения: «технология разработки ПО», «жизненный цикл ПО», «модель ЖЦ»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Составить таблицу: этап ЖЦ → что делаем → артефакты</a:t>
            </a:r>
            <a:endParaRPr sz="110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Описать ЖЦ реального программного продукта</a:t>
            </a:r>
            <a:endParaRPr sz="1100"/>
          </a:p>
        </p:txBody>
      </p:sp>
      <p:sp>
        <p:nvSpPr>
          <p:cNvPr id="520" name="Shape 520"/>
          <p:cNvSpPr/>
          <p:nvPr/>
        </p:nvSpPr>
        <p:spPr>
          <a:xfrm>
            <a:off x="661475" y="5607546"/>
            <a:ext cx="10868745" cy="746919"/>
          </a:xfrm>
          <a:prstGeom prst="roundRect">
            <a:avLst>
              <a:gd name="adj" fmla="val 8138"/>
            </a:avLst>
          </a:prstGeom>
          <a:solidFill>
            <a:srgbClr val="B6D6FC"/>
          </a:solidFill>
          <a:ln>
            <a:prstDash val="solid"/>
          </a:ln>
        </p:spPr>
      </p:sp>
      <p:pic>
        <p:nvPicPr>
          <p:cNvPr id="522" name="Picture 522"/>
          <p:cNvPicPr/>
          <p:nvPr/>
        </p:nvPicPr>
        <p:blipFill>
          <a:blip r:embed="rId2"/>
          <a:stretch/>
        </p:blipFill>
        <p:spPr>
          <a:xfrm>
            <a:off x="806132" y="5789712"/>
            <a:ext cx="180871" cy="144660"/>
          </a:xfrm>
          <a:prstGeom prst="rect">
            <a:avLst/>
          </a:prstGeom>
        </p:spPr>
      </p:pic>
      <p:sp>
        <p:nvSpPr>
          <p:cNvPr id="523" name="Shape 523"/>
          <p:cNvSpPr/>
          <p:nvPr/>
        </p:nvSpPr>
        <p:spPr>
          <a:xfrm>
            <a:off x="1131661" y="5770265"/>
            <a:ext cx="10253902" cy="43418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5000"/>
              </a:lnSpc>
            </a:pPr>
            <a:r>
              <a:rPr sz="1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Литература:</a:t>
            </a: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Орлов С.А. «Технологии разработки ПО» · Соммервилл И. «Инженерия ПО» · Брауде Э. «Технология разработки ПО» · ГОСТ 19.102-77 · ISO/IEC 12207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24" name="Shape 524"/>
          <p:cNvSpPr/>
          <p:nvPr/>
        </p:nvSpPr>
        <p:spPr>
          <a:xfrm>
            <a:off x="-11880" y="999960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pic>
        <p:nvPicPr>
          <p:cNvPr id="526" name="Picture 526"/>
          <p:cNvPicPr/>
          <p:nvPr/>
        </p:nvPicPr>
        <p:blipFill>
          <a:blip r:embed="rId3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529"/>
          <p:cNvPicPr/>
          <p:nvPr/>
        </p:nvPicPr>
        <p:blipFill>
          <a:blip r:embed="rId2"/>
          <a:stretch/>
        </p:blipFill>
        <p:spPr>
          <a:xfrm>
            <a:off x="7660885" y="0"/>
            <a:ext cx="4571886" cy="6858000"/>
          </a:xfrm>
          <a:prstGeom prst="rect">
            <a:avLst/>
          </a:prstGeom>
        </p:spPr>
      </p:pic>
      <p:sp>
        <p:nvSpPr>
          <p:cNvPr id="530" name="Shape 530"/>
          <p:cNvSpPr/>
          <p:nvPr/>
        </p:nvSpPr>
        <p:spPr>
          <a:xfrm>
            <a:off x="661475" y="488950"/>
            <a:ext cx="10868745" cy="38764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Вопросы для самоконтроля</a:t>
            </a:r>
            <a:endParaRPr sz="24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1" name="Shape 531"/>
          <p:cNvSpPr/>
          <p:nvPr/>
        </p:nvSpPr>
        <p:spPr>
          <a:xfrm>
            <a:off x="661475" y="1062633"/>
            <a:ext cx="11478330" cy="17363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Проверьте усвоение материала, ответив на следующие вопросы. Они охватывают ключевые различия и особенности каждой модели.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2" name="Shape 532"/>
          <p:cNvSpPr/>
          <p:nvPr/>
        </p:nvSpPr>
        <p:spPr>
          <a:xfrm>
            <a:off x="661475" y="1340842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33" name="Shape 533"/>
          <p:cNvSpPr/>
          <p:nvPr/>
        </p:nvSpPr>
        <p:spPr>
          <a:xfrm>
            <a:off x="707958" y="1364059"/>
            <a:ext cx="186031" cy="23256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1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4" name="Shape 534"/>
          <p:cNvSpPr/>
          <p:nvPr/>
        </p:nvSpPr>
        <p:spPr>
          <a:xfrm>
            <a:off x="1033536" y="1383407"/>
            <a:ext cx="10496684" cy="19377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Что такое жизненный цикл ПО?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5" name="Shape 535"/>
          <p:cNvSpPr/>
          <p:nvPr/>
        </p:nvSpPr>
        <p:spPr>
          <a:xfrm>
            <a:off x="1033536" y="1632942"/>
            <a:ext cx="10496684" cy="17363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Дайте определение и перечислите основные этапы.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6" name="Shape 536"/>
          <p:cNvSpPr/>
          <p:nvPr/>
        </p:nvSpPr>
        <p:spPr>
          <a:xfrm>
            <a:off x="661475" y="1992610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37" name="Shape 537"/>
          <p:cNvSpPr/>
          <p:nvPr/>
        </p:nvSpPr>
        <p:spPr>
          <a:xfrm>
            <a:off x="707958" y="2015827"/>
            <a:ext cx="186031" cy="23256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2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8" name="Shape 538"/>
          <p:cNvSpPr/>
          <p:nvPr/>
        </p:nvSpPr>
        <p:spPr>
          <a:xfrm>
            <a:off x="1033536" y="2035175"/>
            <a:ext cx="10496684" cy="19377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Чем каскадная модель отличается от итеративной?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9" name="Shape 539"/>
          <p:cNvSpPr/>
          <p:nvPr/>
        </p:nvSpPr>
        <p:spPr>
          <a:xfrm>
            <a:off x="1033536" y="2284710"/>
            <a:ext cx="10496684" cy="17363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Сравните структуру, гибкость и подход к обратной связи.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0" name="Shape 540"/>
          <p:cNvSpPr/>
          <p:nvPr/>
        </p:nvSpPr>
        <p:spPr>
          <a:xfrm>
            <a:off x="661475" y="2644378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41" name="Shape 541"/>
          <p:cNvSpPr/>
          <p:nvPr/>
        </p:nvSpPr>
        <p:spPr>
          <a:xfrm>
            <a:off x="707958" y="2667595"/>
            <a:ext cx="186031" cy="232568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3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2" name="Shape 542"/>
          <p:cNvSpPr/>
          <p:nvPr/>
        </p:nvSpPr>
        <p:spPr>
          <a:xfrm>
            <a:off x="1033536" y="2686943"/>
            <a:ext cx="10496684" cy="193774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В чём главное преимущество спиральной модели?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3" name="Shape 543"/>
          <p:cNvSpPr/>
          <p:nvPr/>
        </p:nvSpPr>
        <p:spPr>
          <a:xfrm>
            <a:off x="1033536" y="2936478"/>
            <a:ext cx="10496684" cy="17363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Объясните роль анализа рисков в каждом витке.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4" name="Shape 544"/>
          <p:cNvSpPr/>
          <p:nvPr/>
        </p:nvSpPr>
        <p:spPr>
          <a:xfrm>
            <a:off x="661475" y="3296146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45" name="Shape 545"/>
          <p:cNvSpPr/>
          <p:nvPr/>
        </p:nvSpPr>
        <p:spPr>
          <a:xfrm>
            <a:off x="707958" y="3319363"/>
            <a:ext cx="186031" cy="23256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4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6" name="Shape 546"/>
          <p:cNvSpPr/>
          <p:nvPr/>
        </p:nvSpPr>
        <p:spPr>
          <a:xfrm>
            <a:off x="1033536" y="3338711"/>
            <a:ext cx="10496684" cy="19377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Почему каскадная модель плохо работает при изменении требований?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7" name="Shape 547"/>
          <p:cNvSpPr/>
          <p:nvPr/>
        </p:nvSpPr>
        <p:spPr>
          <a:xfrm>
            <a:off x="1033536" y="3588246"/>
            <a:ext cx="10496684" cy="17363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Опишите механизм возникновения проблем.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8" name="Shape 548"/>
          <p:cNvSpPr/>
          <p:nvPr/>
        </p:nvSpPr>
        <p:spPr>
          <a:xfrm>
            <a:off x="661475" y="3947914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49" name="Shape 549"/>
          <p:cNvSpPr/>
          <p:nvPr/>
        </p:nvSpPr>
        <p:spPr>
          <a:xfrm>
            <a:off x="707958" y="3971130"/>
            <a:ext cx="186031" cy="23256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5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0" name="Shape 550"/>
          <p:cNvSpPr/>
          <p:nvPr/>
        </p:nvSpPr>
        <p:spPr>
          <a:xfrm>
            <a:off x="1033536" y="3990479"/>
            <a:ext cx="10496684" cy="19377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Что общего у инкрементной и итеративной моделей? Чем они различаются?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1" name="Shape 551"/>
          <p:cNvSpPr/>
          <p:nvPr/>
        </p:nvSpPr>
        <p:spPr>
          <a:xfrm>
            <a:off x="1033536" y="4240014"/>
            <a:ext cx="10496684" cy="17363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Сравните подход к росту продукта.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2" name="Shape 552"/>
          <p:cNvSpPr/>
          <p:nvPr/>
        </p:nvSpPr>
        <p:spPr>
          <a:xfrm>
            <a:off x="661475" y="4599682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53" name="Shape 553"/>
          <p:cNvSpPr/>
          <p:nvPr/>
        </p:nvSpPr>
        <p:spPr>
          <a:xfrm>
            <a:off x="707958" y="4622899"/>
            <a:ext cx="186031" cy="23256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6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4" name="Shape 554"/>
          <p:cNvSpPr/>
          <p:nvPr/>
        </p:nvSpPr>
        <p:spPr>
          <a:xfrm>
            <a:off x="1033536" y="4642247"/>
            <a:ext cx="10496684" cy="19377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Для каких проектов лучше всего подходит спиральная модель?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5" name="Shape 555"/>
          <p:cNvSpPr/>
          <p:nvPr/>
        </p:nvSpPr>
        <p:spPr>
          <a:xfrm>
            <a:off x="1033536" y="4891782"/>
            <a:ext cx="10496684" cy="17363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Приведите конкретные примеры отраслей.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6" name="Shape 556"/>
          <p:cNvSpPr/>
          <p:nvPr/>
        </p:nvSpPr>
        <p:spPr>
          <a:xfrm>
            <a:off x="661475" y="5251450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57" name="Shape 557"/>
          <p:cNvSpPr/>
          <p:nvPr/>
        </p:nvSpPr>
        <p:spPr>
          <a:xfrm>
            <a:off x="707958" y="5274667"/>
            <a:ext cx="186031" cy="23256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7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8" name="Shape 558"/>
          <p:cNvSpPr/>
          <p:nvPr/>
        </p:nvSpPr>
        <p:spPr>
          <a:xfrm>
            <a:off x="1033536" y="5294015"/>
            <a:ext cx="10496684" cy="19377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Какая модель требует наибольшего участия заказчика?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9" name="Shape 559"/>
          <p:cNvSpPr/>
          <p:nvPr/>
        </p:nvSpPr>
        <p:spPr>
          <a:xfrm>
            <a:off x="1033536" y="5543550"/>
            <a:ext cx="10496684" cy="17363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Обоснуйте свой ответ.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0" name="Shape 560"/>
          <p:cNvSpPr/>
          <p:nvPr/>
        </p:nvSpPr>
        <p:spPr>
          <a:xfrm>
            <a:off x="661475" y="5903218"/>
            <a:ext cx="279095" cy="279101"/>
          </a:xfrm>
          <a:prstGeom prst="roundRect">
            <a:avLst>
              <a:gd name="adj" fmla="val 1866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61" name="Shape 561"/>
          <p:cNvSpPr/>
          <p:nvPr/>
        </p:nvSpPr>
        <p:spPr>
          <a:xfrm>
            <a:off x="707958" y="5926435"/>
            <a:ext cx="186031" cy="232569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8</a:t>
            </a:r>
            <a:endParaRPr sz="14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2" name="Shape 562"/>
          <p:cNvSpPr/>
          <p:nvPr/>
        </p:nvSpPr>
        <p:spPr>
          <a:xfrm>
            <a:off x="1033536" y="5945783"/>
            <a:ext cx="10496684" cy="193773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Какая модель самая дешёвая для небольших проектов с фиксированными требованиями?</a:t>
            </a:r>
            <a:endParaRPr sz="12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3" name="Shape 563"/>
          <p:cNvSpPr/>
          <p:nvPr/>
        </p:nvSpPr>
        <p:spPr>
          <a:xfrm>
            <a:off x="1033536" y="6195318"/>
            <a:ext cx="10496684" cy="173632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Объясните, почему.</a:t>
            </a:r>
            <a:endParaRPr sz="9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4" name="Shape 564"/>
          <p:cNvSpPr/>
          <p:nvPr/>
        </p:nvSpPr>
        <p:spPr>
          <a:xfrm>
            <a:off x="-11880" y="911821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/>
          <p:nvPr/>
        </p:nvSpPr>
        <p:spPr>
          <a:xfrm>
            <a:off x="661475" y="1098352"/>
            <a:ext cx="10868745" cy="516730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5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Домашнее задание и литература</a:t>
            </a:r>
            <a:endParaRPr sz="325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7" name="Shape 567"/>
          <p:cNvSpPr/>
          <p:nvPr/>
        </p:nvSpPr>
        <p:spPr>
          <a:xfrm>
            <a:off x="542415" y="1863130"/>
            <a:ext cx="5470785" cy="3896420"/>
          </a:xfrm>
          <a:prstGeom prst="roundRect">
            <a:avLst>
              <a:gd name="adj" fmla="val 3056"/>
            </a:avLst>
          </a:prstGeom>
          <a:solidFill>
            <a:srgbClr val="FFAD94"/>
          </a:solidFill>
          <a:ln>
            <a:prstDash val="solid"/>
          </a:ln>
        </p:spPr>
      </p:sp>
      <p:sp>
        <p:nvSpPr>
          <p:cNvPr id="568" name="Shape 568"/>
          <p:cNvSpPr/>
          <p:nvPr/>
        </p:nvSpPr>
        <p:spPr>
          <a:xfrm>
            <a:off x="707710" y="2028427"/>
            <a:ext cx="5140196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📝</a:t>
            </a: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Домашнее задание</a:t>
            </a:r>
            <a:endParaRPr sz="16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9" name="Shape 569"/>
          <p:cNvSpPr/>
          <p:nvPr/>
        </p:nvSpPr>
        <p:spPr>
          <a:xfrm>
            <a:off x="707710" y="2452191"/>
            <a:ext cx="5140196" cy="196800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Составить сравнительную таблицу 4 моделей по 5 критериям (самостоятельно выбранным)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 startAt="2"/>
            </a:pP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Привести по одному реальному примеру проекта для каждой модели с обоснованием выбора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 startAt="3"/>
            </a:pP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Ответить письменно: «Какую модель вы бы выбрали для разработки мобильного приложения доставки еды и почему?» (минимум 150 слов)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0" name="Shape 570"/>
          <p:cNvSpPr/>
          <p:nvPr/>
        </p:nvSpPr>
        <p:spPr>
          <a:xfrm>
            <a:off x="6303904" y="2028427"/>
            <a:ext cx="5232666" cy="258465"/>
          </a:xfrm>
          <a:prstGeom prst="rect">
            <a:avLst/>
          </a:prstGeom>
          <a:noFill/>
          <a:ln>
            <a:prstDash val="solid"/>
          </a:ln>
        </p:spPr>
        <p:txBody>
          <a:bodyPr wrap="none" lIns="0" tIns="0" rIns="0" bIns="0" anchor="t"/>
          <a:lstStyle/>
          <a:p>
            <a:pPr marL="0" marR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 strike="noStrike" cap="none" spc="0" baseline="0">
                <a:solidFill>
                  <a:srgbClr val="000000"/>
                </a:solidFill>
                <a:latin typeface="Noto Color Emoji"/>
                <a:ea typeface="Noto Color Emoji"/>
                <a:cs typeface="Noto Color Emoji"/>
              </a:rPr>
              <a:t>📚</a:t>
            </a:r>
            <a:r>
              <a:rPr sz="1600" b="1" i="0" u="none" strike="noStrike" cap="none" spc="0" baseline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rPr>
              <a:t> Рекомендуемая литература</a:t>
            </a:r>
            <a:endParaRPr sz="16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1" name="Shape 571"/>
          <p:cNvSpPr/>
          <p:nvPr/>
        </p:nvSpPr>
        <p:spPr>
          <a:xfrm>
            <a:off x="6303904" y="2452191"/>
            <a:ext cx="5232666" cy="202584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>
            <a:defPPr/>
            <a:lvl1pPr marL="0" lvl="0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Орлов С.А. «Технологии разработки программного обеспечения»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Соммервилл И. «Инженерия программного обеспечения»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Брауде Э. «Технология разработки программного обеспечения»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64160" marR="0" lvl="0" indent="-26416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300" b="0" i="0" u="none" strike="noStrike" cap="none" spc="0" baseline="0">
                <a:solidFill>
                  <a:srgbClr val="403C4E"/>
                </a:solidFill>
                <a:latin typeface="Open Sans"/>
                <a:ea typeface="Open Sans"/>
                <a:cs typeface="Open Sans"/>
              </a:rPr>
              <a:t>Боэм Б. «Spiral Model of Software Development and Enhancement» (1988)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2" name="Shape 572"/>
          <p:cNvSpPr/>
          <p:nvPr/>
        </p:nvSpPr>
        <p:spPr>
          <a:xfrm>
            <a:off x="6303904" y="4664075"/>
            <a:ext cx="5232666" cy="909439"/>
          </a:xfrm>
          <a:prstGeom prst="roundRect">
            <a:avLst>
              <a:gd name="adj" fmla="val 7638"/>
            </a:avLst>
          </a:prstGeom>
          <a:solidFill>
            <a:srgbClr val="FFD8CC"/>
          </a:solidFill>
          <a:ln>
            <a:prstDash val="solid"/>
          </a:ln>
        </p:spPr>
      </p:sp>
      <p:pic>
        <p:nvPicPr>
          <p:cNvPr id="574" name="Picture 574"/>
          <p:cNvPicPr/>
          <p:nvPr/>
        </p:nvPicPr>
        <p:blipFill>
          <a:blip r:embed="rId2"/>
          <a:stretch/>
        </p:blipFill>
        <p:spPr>
          <a:xfrm>
            <a:off x="6469198" y="4916488"/>
            <a:ext cx="206667" cy="165298"/>
          </a:xfrm>
          <a:prstGeom prst="rect">
            <a:avLst/>
          </a:prstGeom>
        </p:spPr>
      </p:pic>
      <p:sp>
        <p:nvSpPr>
          <p:cNvPr id="575" name="Shape 575"/>
          <p:cNvSpPr/>
          <p:nvPr/>
        </p:nvSpPr>
        <p:spPr>
          <a:xfrm>
            <a:off x="6841160" y="4854178"/>
            <a:ext cx="4530116" cy="5292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 strike="noStrike" cap="none" spc="0" baseline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Следующая лекция: Гибкие методологии разработки — Agile, Scrum, Kanban.</a:t>
            </a:r>
            <a:endParaRPr sz="1300" b="0" i="0" u="none" strike="noStrike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6" name="Shape 576"/>
          <p:cNvSpPr/>
          <p:nvPr/>
        </p:nvSpPr>
        <p:spPr>
          <a:xfrm>
            <a:off x="-11880" y="1705039"/>
            <a:ext cx="12203880" cy="0"/>
          </a:xfrm>
          <a:prstGeom prst="line">
            <a:avLst/>
          </a:prstGeom>
          <a:ln w="28575">
            <a:solidFill>
              <a:srgbClr val="FF0040"/>
            </a:solidFill>
            <a:prstDash val="soli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577" name="Shape 577"/>
          <p:cNvSpPr/>
          <p:nvPr/>
        </p:nvSpPr>
        <p:spPr>
          <a:xfrm>
            <a:off x="10912150" y="6509424"/>
            <a:ext cx="1236139" cy="3375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lIns="91440" tIns="45720" rIns="91440" bIns="45720" anchor="ctr"/>
          <a:lstStyle/>
          <a:p>
            <a:pPr marL="0" indent="0" algn="ctr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79" name="Picture 579"/>
          <p:cNvPicPr/>
          <p:nvPr/>
        </p:nvPicPr>
        <p:blipFill>
          <a:blip r:embed="rId3"/>
          <a:stretch/>
        </p:blipFill>
        <p:spPr>
          <a:xfrm>
            <a:off x="8505202" y="203064"/>
            <a:ext cx="3355830" cy="3489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T Norms Medium"/>
        <a:ea typeface=""/>
        <a:cs typeface=""/>
      </a:majorFont>
      <a:minorFont>
        <a:latin typeface="TT Norms Regular"/>
        <a:ea typeface=""/>
        <a:cs typeface="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1</TotalTime>
  <Words>1946</Words>
  <Application>Microsoft Office PowerPoint</Application>
  <DocSecurity>0</DocSecurity>
  <PresentationFormat>Широкоэкранный</PresentationFormat>
  <Paragraphs>306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19</vt:i4>
      </vt:variant>
    </vt:vector>
  </HeadingPairs>
  <TitlesOfParts>
    <vt:vector size="31" baseType="lpstr">
      <vt:lpstr>Arial</vt:lpstr>
      <vt:lpstr>Calibri</vt:lpstr>
      <vt:lpstr>Merriweather Bold</vt:lpstr>
      <vt:lpstr>Merriweather Light</vt:lpstr>
      <vt:lpstr>Noto Color Emoji</vt:lpstr>
      <vt:lpstr>Open Sans</vt:lpstr>
      <vt:lpstr>Open Sans Bold</vt:lpstr>
      <vt:lpstr>TT Norms Medium</vt:lpstr>
      <vt:lpstr>TT Norms Regular</vt:lpstr>
      <vt:lpstr>1_Office Theme</vt:lpstr>
      <vt:lpstr>Office Theme</vt:lpstr>
      <vt:lpstr>2_Office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89851613205</dc:creator>
  <cp:lastModifiedBy>Елена Журавлёва</cp:lastModifiedBy>
  <cp:revision>1</cp:revision>
  <dcterms:created xsi:type="dcterms:W3CDTF">2026-09-27T16:04:22Z</dcterms:created>
  <dcterms:modified xsi:type="dcterms:W3CDTF">2026-10-03T05:36:19Z</dcterms:modified>
</cp:coreProperties>
</file>